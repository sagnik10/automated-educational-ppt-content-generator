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87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SAMPLE 2__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AMPLE__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 dirty="0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8720" y="2331720"/>
            <a:ext cx="98298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0" b="1">
                <a:solidFill>
                  <a:srgbClr val="FFFFFF"/>
                </a:solidFill>
              </a:rPr>
              <a:t>RATIOS 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829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</a:rPr>
              <a:t>GRADE 7 🎯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11094415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454335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0B2B16"/>
                </a:solidFill>
              </a:rPr>
              <a:t>Story: Sticker Chart 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45433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>
                <a:solidFill>
                  <a:srgbClr val="0C2238"/>
                </a:solidFill>
              </a:rPr>
              <a:t>Percent = shaded out of 100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94415" cy="4343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783079"/>
            <a:ext cx="4846320" cy="4160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percent_100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466344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0" y="1874519"/>
            <a:ext cx="5653735" cy="3977639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97880" y="2057399"/>
            <a:ext cx="5196535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97880" y="2057399"/>
            <a:ext cx="5196535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211226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📖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560319"/>
            <a:ext cx="4922215" cy="6400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>
                <a:solidFill>
                  <a:srgbClr val="0C2238"/>
                </a:solidFill>
              </a:rPr>
              <a:t>A 100-grid has 100 squares.</a:t>
            </a:r>
          </a:p>
          <a:p>
            <a:pPr algn="l"/>
            <a:r>
              <a:rPr sz="1300">
                <a:solidFill>
                  <a:srgbClr val="0C2238"/>
                </a:solidFill>
              </a:rPr>
              <a:t>You shade 37 squares.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3428999"/>
            <a:ext cx="519653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97880" y="3428999"/>
            <a:ext cx="5196535" cy="41148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348386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🧩 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931919"/>
            <a:ext cx="4922215" cy="7315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>
                <a:solidFill>
                  <a:srgbClr val="0C2238"/>
                </a:solidFill>
              </a:rPr>
              <a:t>1) What percent is shaded?</a:t>
            </a:r>
          </a:p>
          <a:p>
            <a:pPr algn="l"/>
            <a:r>
              <a:rPr sz="1300">
                <a:solidFill>
                  <a:srgbClr val="0C2238"/>
                </a:solidFill>
              </a:rPr>
              <a:t>2) What decimal is that?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4892039"/>
            <a:ext cx="519653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97880" y="4892039"/>
            <a:ext cx="5196535" cy="41148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494690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✅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294375"/>
            <a:ext cx="4922215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dirty="0">
                <a:solidFill>
                  <a:srgbClr val="0C2238"/>
                </a:solidFill>
              </a:rPr>
              <a:t>Percent = shaded/100</a:t>
            </a:r>
          </a:p>
          <a:p>
            <a:pPr algn="l"/>
            <a:r>
              <a:rPr sz="1300" dirty="0">
                <a:solidFill>
                  <a:srgbClr val="0C2238"/>
                </a:solidFill>
              </a:rPr>
              <a:t>Decimal = percent ÷ 100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AMPLE__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11094415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454335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0B2B16"/>
                </a:solidFill>
              </a:rPr>
              <a:t>Story: Tax on a Receipt 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45433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>
                <a:solidFill>
                  <a:srgbClr val="0C2238"/>
                </a:solidFill>
              </a:rPr>
              <a:t>part = percent × whole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94415" cy="4343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783079"/>
            <a:ext cx="4846320" cy="4160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receipt_t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466344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0" y="1874519"/>
            <a:ext cx="5653735" cy="3977639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97880" y="2057399"/>
            <a:ext cx="5196535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97880" y="2057399"/>
            <a:ext cx="5196535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211226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📖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560319"/>
            <a:ext cx="4922215" cy="6400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>
                <a:solidFill>
                  <a:srgbClr val="0C2238"/>
                </a:solidFill>
              </a:rPr>
              <a:t>Bill is $54 and tax is 8.44%.</a:t>
            </a:r>
          </a:p>
          <a:p>
            <a:pPr algn="l"/>
            <a:r>
              <a:rPr sz="1300">
                <a:solidFill>
                  <a:srgbClr val="0C2238"/>
                </a:solidFill>
              </a:rPr>
              <a:t>Find the tax amount.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3428999"/>
            <a:ext cx="519653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97880" y="3428999"/>
            <a:ext cx="5196535" cy="41148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348386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🧩 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931919"/>
            <a:ext cx="4922215" cy="7315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>
                <a:solidFill>
                  <a:srgbClr val="0C2238"/>
                </a:solidFill>
              </a:rPr>
              <a:t>1) Write the equation.</a:t>
            </a:r>
          </a:p>
          <a:p>
            <a:pPr algn="l"/>
            <a:r>
              <a:rPr sz="1300">
                <a:solidFill>
                  <a:srgbClr val="0C2238"/>
                </a:solidFill>
              </a:rPr>
              <a:t>2) Compute/estimate tax.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4892039"/>
            <a:ext cx="519653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97880" y="4892039"/>
            <a:ext cx="5196535" cy="41148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494690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✅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294375"/>
            <a:ext cx="4922215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dirty="0">
                <a:solidFill>
                  <a:srgbClr val="0C2238"/>
                </a:solidFill>
              </a:rPr>
              <a:t>Convert % to decimal</a:t>
            </a:r>
          </a:p>
          <a:p>
            <a:pPr algn="l"/>
            <a:r>
              <a:rPr sz="1300" dirty="0">
                <a:solidFill>
                  <a:srgbClr val="0C2238"/>
                </a:solidFill>
              </a:rPr>
              <a:t>Multiply decimal × whole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AMPLE__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11094415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454335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0B2B16"/>
                </a:solidFill>
              </a:rPr>
              <a:t>Story: House Commission 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45433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>
                <a:solidFill>
                  <a:srgbClr val="0C2238"/>
                </a:solidFill>
              </a:rPr>
              <a:t>Find the whole (selling price)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94415" cy="4343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783079"/>
            <a:ext cx="4846320" cy="4160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commission_ho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466344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0" y="1874519"/>
            <a:ext cx="5653735" cy="3977639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97880" y="2057399"/>
            <a:ext cx="5196535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97880" y="2057399"/>
            <a:ext cx="5196535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211226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📖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560319"/>
            <a:ext cx="4922215" cy="6400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>
                <a:solidFill>
                  <a:srgbClr val="0C2238"/>
                </a:solidFill>
              </a:rPr>
              <a:t>Commission is 5.5% and equals $9,020.</a:t>
            </a:r>
          </a:p>
          <a:p>
            <a:pPr algn="l"/>
            <a:r>
              <a:rPr sz="1300">
                <a:solidFill>
                  <a:srgbClr val="0C2238"/>
                </a:solidFill>
              </a:rPr>
              <a:t>Find the selling price.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3428999"/>
            <a:ext cx="519653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97880" y="3428999"/>
            <a:ext cx="5196535" cy="41148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348386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🧩 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931919"/>
            <a:ext cx="4922215" cy="7315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>
                <a:solidFill>
                  <a:srgbClr val="0C2238"/>
                </a:solidFill>
              </a:rPr>
              <a:t>1) 9020 = 0.055 × whole</a:t>
            </a:r>
          </a:p>
          <a:p>
            <a:pPr algn="l"/>
            <a:r>
              <a:rPr sz="1300">
                <a:solidFill>
                  <a:srgbClr val="0C2238"/>
                </a:solidFill>
              </a:rPr>
              <a:t>2) whole = 9020 ÷ 0.055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4892039"/>
            <a:ext cx="519653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97880" y="4892039"/>
            <a:ext cx="5196535" cy="41148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494690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✅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321807"/>
            <a:ext cx="4922215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dirty="0">
                <a:solidFill>
                  <a:srgbClr val="0C2238"/>
                </a:solidFill>
              </a:rPr>
              <a:t>Whole = part ÷ percent</a:t>
            </a:r>
          </a:p>
          <a:p>
            <a:pPr algn="l"/>
            <a:r>
              <a:rPr sz="1300" dirty="0">
                <a:solidFill>
                  <a:srgbClr val="0C2238"/>
                </a:solidFill>
              </a:rPr>
              <a:t>Check by multiplying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AMPLE__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11094415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454335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0B2B16"/>
                </a:solidFill>
              </a:rPr>
              <a:t>Story: Shoe Reviews 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45433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>
                <a:solidFill>
                  <a:srgbClr val="0C2238"/>
                </a:solidFill>
              </a:rPr>
              <a:t>Compare percents to decide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94415" cy="4343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783079"/>
            <a:ext cx="4846320" cy="4160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hoes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466344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0" y="1874519"/>
            <a:ext cx="5653735" cy="3977639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97880" y="2057399"/>
            <a:ext cx="5196535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97880" y="2057399"/>
            <a:ext cx="5196535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211226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📖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560319"/>
            <a:ext cx="4922215" cy="6400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>
                <a:solidFill>
                  <a:srgbClr val="0C2238"/>
                </a:solidFill>
              </a:rPr>
              <a:t>Shoe A: 42/50 good reviews.</a:t>
            </a:r>
          </a:p>
          <a:p>
            <a:pPr algn="l"/>
            <a:r>
              <a:rPr sz="1300">
                <a:solidFill>
                  <a:srgbClr val="0C2238"/>
                </a:solidFill>
              </a:rPr>
              <a:t>Shoe B: 78/100 good reviews.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3428999"/>
            <a:ext cx="519653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97880" y="3428999"/>
            <a:ext cx="5196535" cy="41148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348386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🧩 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931919"/>
            <a:ext cx="4922215" cy="7315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>
                <a:solidFill>
                  <a:srgbClr val="0C2238"/>
                </a:solidFill>
              </a:rPr>
              <a:t>1) Turn both into percents.</a:t>
            </a:r>
          </a:p>
          <a:p>
            <a:pPr algn="l"/>
            <a:r>
              <a:rPr sz="1300">
                <a:solidFill>
                  <a:srgbClr val="0C2238"/>
                </a:solidFill>
              </a:rPr>
              <a:t>2) Pick the better shoe and explain.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4892039"/>
            <a:ext cx="519653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97880" y="4892039"/>
            <a:ext cx="5196535" cy="41148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494690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✅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321807"/>
            <a:ext cx="4922215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>
                <a:solidFill>
                  <a:srgbClr val="0C2238"/>
                </a:solidFill>
              </a:rPr>
              <a:t>Percent = part/whole × 100</a:t>
            </a:r>
          </a:p>
          <a:p>
            <a:pPr algn="l"/>
            <a:r>
              <a:rPr sz="1300">
                <a:solidFill>
                  <a:srgbClr val="0C2238"/>
                </a:solidFill>
              </a:rPr>
              <a:t>Compare the percents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AMPLE__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5953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Unit Rates with Fractions 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301752"/>
            <a:ext cx="2057400" cy="36576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64040" y="301752"/>
            <a:ext cx="20574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16"/>
                </a:solidFill>
              </a:rPr>
              <a:t>Today’s Goal 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LO: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Find unit rate (per 1) with fractions.</a:t>
            </a:r>
          </a:p>
          <a:p>
            <a:pPr algn="l">
              <a:lnSpc>
                <a:spcPct val="114000"/>
              </a:lnSpc>
            </a:pPr>
            <a:endParaRPr sz="1600" b="0">
              <a:solidFill>
                <a:srgbClr val="0D1B0D"/>
              </a:solidFill>
            </a:endParaRP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Success ✅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Name numerator &amp; denominator.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Find a unit rate.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Explain in words.</a:t>
            </a:r>
          </a:p>
          <a:p>
            <a:pPr algn="l">
              <a:lnSpc>
                <a:spcPct val="114000"/>
              </a:lnSpc>
            </a:pPr>
            <a:endParaRPr sz="1600" b="0">
              <a:solidFill>
                <a:srgbClr val="0D1B0D"/>
              </a:solidFill>
            </a:endParaRP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ATL: 💬 Communication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IB: 🧠 Thinker, Communicator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UAE: 🏗️ Construction quantities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69164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6916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A3B00"/>
                </a:solidFill>
              </a:rPr>
              <a:t>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033272"/>
            <a:ext cx="43251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111"/>
                </a:solidFill>
              </a:rPr>
              <a:t>Bell Ringer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⭐ Quick Start (2 minutes)</a:t>
            </a:r>
          </a:p>
          <a:p>
            <a:pPr algn="l">
              <a:lnSpc>
                <a:spcPct val="120000"/>
              </a:lnSpc>
            </a:pPr>
            <a:endParaRPr sz="22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Step 1: Read.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Step 2: Circle numbers.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Step 3: Write a fraction.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Step 4: Find “per 1”.</a:t>
            </a:r>
          </a:p>
          <a:p>
            <a:pPr algn="l">
              <a:lnSpc>
                <a:spcPct val="120000"/>
              </a:lnSpc>
            </a:pPr>
            <a:endParaRPr sz="22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💬 Share: What does “per 1” mean?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11094415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454335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0B2B16"/>
                </a:solidFill>
              </a:rPr>
              <a:t>Story: Water for the Class 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45433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>
                <a:solidFill>
                  <a:srgbClr val="0C2238"/>
                </a:solidFill>
              </a:rPr>
              <a:t>Unit rate = liters per 1 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94415" cy="4343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783079"/>
            <a:ext cx="4846320" cy="4160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liters_d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466344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0" y="1874519"/>
            <a:ext cx="5653735" cy="3977639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97880" y="2057399"/>
            <a:ext cx="5196535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97880" y="2057399"/>
            <a:ext cx="5196535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211226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📖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560319"/>
            <a:ext cx="4922215" cy="6400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>
                <a:solidFill>
                  <a:srgbClr val="0C2238"/>
                </a:solidFill>
              </a:rPr>
              <a:t>The class drinks 12 liters in 4 days.</a:t>
            </a:r>
          </a:p>
          <a:p>
            <a:pPr algn="l"/>
            <a:r>
              <a:rPr sz="1300">
                <a:solidFill>
                  <a:srgbClr val="0C2238"/>
                </a:solidFill>
              </a:rPr>
              <a:t>How many liters per 1 day?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3428999"/>
            <a:ext cx="519653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97880" y="3428999"/>
            <a:ext cx="5196535" cy="41148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348386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🧩 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931919"/>
            <a:ext cx="4922215" cy="7315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>
                <a:solidFill>
                  <a:srgbClr val="0C2238"/>
                </a:solidFill>
              </a:rPr>
              <a:t>1) Find L/day.</a:t>
            </a:r>
          </a:p>
          <a:p>
            <a:pPr algn="l"/>
            <a:r>
              <a:rPr sz="1300">
                <a:solidFill>
                  <a:srgbClr val="0C2238"/>
                </a:solidFill>
              </a:rPr>
              <a:t>2) For 7 days, how many liters?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4892039"/>
            <a:ext cx="519653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97880" y="4892039"/>
            <a:ext cx="5196535" cy="41148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494690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✅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294375"/>
            <a:ext cx="4922215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dirty="0">
                <a:solidFill>
                  <a:srgbClr val="0C2238"/>
                </a:solidFill>
              </a:rPr>
              <a:t>Unit rate = total ÷ days</a:t>
            </a:r>
          </a:p>
          <a:p>
            <a:pPr algn="l"/>
            <a:r>
              <a:rPr sz="1300" dirty="0">
                <a:solidFill>
                  <a:srgbClr val="0C2238"/>
                </a:solidFill>
              </a:rPr>
              <a:t>Then multiply by 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AMPLE__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11094415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454335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0B2B16"/>
                </a:solidFill>
              </a:rPr>
              <a:t>Story: Bus Trip 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45433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>
                <a:solidFill>
                  <a:srgbClr val="0C2238"/>
                </a:solidFill>
              </a:rPr>
              <a:t>Unit rate = km per 1 hour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94415" cy="4343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783079"/>
            <a:ext cx="4846320" cy="4160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speed_km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466344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0" y="1874519"/>
            <a:ext cx="5653735" cy="3977639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97880" y="2057399"/>
            <a:ext cx="5196535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97880" y="2057399"/>
            <a:ext cx="5196535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211226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📖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560319"/>
            <a:ext cx="4922215" cy="6400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>
                <a:solidFill>
                  <a:srgbClr val="0C2238"/>
                </a:solidFill>
              </a:rPr>
              <a:t>A bus goes 180 km in 3 hours.</a:t>
            </a:r>
          </a:p>
          <a:p>
            <a:pPr algn="l"/>
            <a:r>
              <a:rPr sz="1300">
                <a:solidFill>
                  <a:srgbClr val="0C2238"/>
                </a:solidFill>
              </a:rPr>
              <a:t>How many km per 1 hour?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3428999"/>
            <a:ext cx="519653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97880" y="3428999"/>
            <a:ext cx="5196535" cy="41148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348386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🧩 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931919"/>
            <a:ext cx="4922215" cy="7315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>
                <a:solidFill>
                  <a:srgbClr val="0C2238"/>
                </a:solidFill>
              </a:rPr>
              <a:t>1) Find km/h.</a:t>
            </a:r>
          </a:p>
          <a:p>
            <a:pPr algn="l"/>
            <a:r>
              <a:rPr sz="1300">
                <a:solidFill>
                  <a:srgbClr val="0C2238"/>
                </a:solidFill>
              </a:rPr>
              <a:t>2) In 5 hours, how far?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4892039"/>
            <a:ext cx="519653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97880" y="4892039"/>
            <a:ext cx="5196535" cy="41148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494690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✅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285231"/>
            <a:ext cx="4922215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dirty="0">
                <a:solidFill>
                  <a:srgbClr val="0C2238"/>
                </a:solidFill>
              </a:rPr>
              <a:t>Unit rate = distance ÷ time</a:t>
            </a:r>
          </a:p>
          <a:p>
            <a:pPr algn="l"/>
            <a:r>
              <a:rPr sz="1300" dirty="0">
                <a:solidFill>
                  <a:srgbClr val="0C2238"/>
                </a:solidFill>
              </a:rPr>
              <a:t>Then multiply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AMPLE__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56032"/>
            <a:ext cx="11094415" cy="109728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457200"/>
            <a:ext cx="10454335" cy="5486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3000" b="1">
                <a:solidFill>
                  <a:srgbClr val="0B2B16"/>
                </a:solidFill>
              </a:rPr>
              <a:t>Story: Pizza Fractions 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24128"/>
            <a:ext cx="10454335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500">
                <a:solidFill>
                  <a:srgbClr val="0C2238"/>
                </a:solidFill>
              </a:rPr>
              <a:t>Fractions show parts of a whole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94415" cy="4343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783079"/>
            <a:ext cx="4846320" cy="4160519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fraction_piz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874519"/>
            <a:ext cx="4663440" cy="397763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0" y="1874519"/>
            <a:ext cx="5653735" cy="3977639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897880" y="2057399"/>
            <a:ext cx="5196535" cy="1234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5897880" y="2057399"/>
            <a:ext cx="5196535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211226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📖 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560319"/>
            <a:ext cx="4922215" cy="64008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>
                <a:solidFill>
                  <a:srgbClr val="0C2238"/>
                </a:solidFill>
              </a:rPr>
              <a:t>A pizza has 8 equal slices.</a:t>
            </a:r>
          </a:p>
          <a:p>
            <a:pPr algn="l"/>
            <a:r>
              <a:rPr sz="1300">
                <a:solidFill>
                  <a:srgbClr val="0C2238"/>
                </a:solidFill>
              </a:rPr>
              <a:t>Sam eats 3 slices.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97880" y="3428999"/>
            <a:ext cx="5196535" cy="1325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897880" y="3428999"/>
            <a:ext cx="5196535" cy="411480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35040" y="348386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🧩 Problems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931919"/>
            <a:ext cx="4922215" cy="7315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>
                <a:solidFill>
                  <a:srgbClr val="0C2238"/>
                </a:solidFill>
              </a:rPr>
              <a:t>1) Write the fraction eaten.</a:t>
            </a:r>
          </a:p>
          <a:p>
            <a:pPr algn="l"/>
            <a:r>
              <a:rPr sz="1300">
                <a:solidFill>
                  <a:srgbClr val="0C2238"/>
                </a:solidFill>
              </a:rPr>
              <a:t>2) How many slices left?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4892039"/>
            <a:ext cx="5196535" cy="868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97880" y="4892039"/>
            <a:ext cx="5196535" cy="411480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035040" y="4946903"/>
            <a:ext cx="4922215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600" b="1">
                <a:solidFill>
                  <a:srgbClr val="0C2238"/>
                </a:solidFill>
              </a:rPr>
              <a:t>✅ Steps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5282617"/>
            <a:ext cx="4922215" cy="274320"/>
          </a:xfrm>
          <a:prstGeom prst="rect">
            <a:avLst/>
          </a:prstGeom>
          <a:noFill/>
        </p:spPr>
        <p:txBody>
          <a:bodyPr wrap="square" lIns="54864" rIns="54864" anchor="t">
            <a:spAutoFit/>
          </a:bodyPr>
          <a:lstStyle/>
          <a:p>
            <a:pPr algn="l"/>
            <a:r>
              <a:rPr sz="1300" dirty="0">
                <a:solidFill>
                  <a:srgbClr val="0C2238"/>
                </a:solidFill>
              </a:rPr>
              <a:t>Fraction = part/whole</a:t>
            </a:r>
          </a:p>
          <a:p>
            <a:pPr algn="l"/>
            <a:r>
              <a:rPr sz="1300" dirty="0">
                <a:solidFill>
                  <a:srgbClr val="0C2238"/>
                </a:solidFill>
              </a:rPr>
              <a:t>Left = whole − part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AMPLE__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Unit Rates with Fractions 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Today’s Goal 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73352"/>
            <a:ext cx="4123944" cy="4727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LO: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Find unit rate (per 1) with fractions.</a:t>
            </a:r>
          </a:p>
          <a:p>
            <a:pPr algn="l">
              <a:lnSpc>
                <a:spcPct val="118000"/>
              </a:lnSpc>
            </a:pPr>
            <a:endParaRPr sz="15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Success ✅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Name numerator &amp; denominator.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Find a unit rate.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Explain in words.</a:t>
            </a:r>
          </a:p>
          <a:p>
            <a:pPr algn="l">
              <a:lnSpc>
                <a:spcPct val="118000"/>
              </a:lnSpc>
            </a:pPr>
            <a:endParaRPr sz="15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ATL: 💬 Communication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IB: 🧠 Thinker, Communicator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UAE: 🏗️ Construction quantities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24712"/>
            <a:ext cx="1645920" cy="45720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24712"/>
            <a:ext cx="1645920" cy="4572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014984"/>
            <a:ext cx="4325112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111"/>
                </a:solidFill>
              </a:rPr>
              <a:t>Bell Ringer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599432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06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⭐ Quick Start</a:t>
            </a:r>
          </a:p>
          <a:p>
            <a:pPr algn="l">
              <a:lnSpc>
                <a:spcPct val="120000"/>
              </a:lnSpc>
            </a:pPr>
            <a:endParaRPr sz="20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Step 1: Read.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Step 2: Circle numbers.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Step 3: Write a fraction.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Step 4: Find “per 1”.</a:t>
            </a:r>
          </a:p>
          <a:p>
            <a:pPr algn="l">
              <a:lnSpc>
                <a:spcPct val="120000"/>
              </a:lnSpc>
            </a:pPr>
            <a:endParaRPr sz="20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💬 Share: What does “per 1” mean?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5953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Learning Objective 🎯 (We go step-by-step)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301752"/>
            <a:ext cx="2057400" cy="36576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64040" y="301752"/>
            <a:ext cx="20574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16"/>
                </a:solidFill>
              </a:rPr>
              <a:t>Learning Objective 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We will…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Use fractions to find unit rates.</a:t>
            </a:r>
          </a:p>
          <a:p>
            <a:pPr algn="l">
              <a:lnSpc>
                <a:spcPct val="114000"/>
              </a:lnSpc>
            </a:pPr>
            <a:endParaRPr sz="1600" b="0">
              <a:solidFill>
                <a:srgbClr val="0D1B0D"/>
              </a:solidFill>
            </a:endParaRP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Success ✅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Aspire: whole ÷ fraction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Grow: unit rates with fractions/decimals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Succeed: explain with units + context</a:t>
            </a:r>
          </a:p>
          <a:p>
            <a:pPr algn="l">
              <a:lnSpc>
                <a:spcPct val="114000"/>
              </a:lnSpc>
            </a:pPr>
            <a:endParaRPr sz="1600" b="0">
              <a:solidFill>
                <a:srgbClr val="0D1B0D"/>
              </a:solidFill>
            </a:endParaRP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Skills 💬🧠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Thinking • Communication • Self-Management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69164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6916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A3B00"/>
                </a:solidFill>
              </a:rPr>
              <a:t>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033272"/>
            <a:ext cx="43251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111"/>
                </a:solidFill>
              </a:rPr>
              <a:t>Learning Objective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✍️ and clearly.</a:t>
            </a:r>
          </a:p>
          <a:p>
            <a:pPr algn="l">
              <a:lnSpc>
                <a:spcPct val="120000"/>
              </a:lnSpc>
            </a:pPr>
            <a:endParaRPr sz="22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✅ I can: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• write a ratio as a fraction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• divide to get a unit rate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• add units (AED, km, kg, …)</a:t>
            </a:r>
          </a:p>
          <a:p>
            <a:pPr algn="l">
              <a:lnSpc>
                <a:spcPct val="120000"/>
              </a:lnSpc>
            </a:pPr>
            <a:endParaRPr sz="22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🌟 Reminder: Unit rate = “for 1”.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Learning Objective 🎯 (Step-by-step)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Learning Objective 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73352"/>
            <a:ext cx="4123944" cy="4727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We will…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Use fractions to find unit rates.</a:t>
            </a:r>
          </a:p>
          <a:p>
            <a:pPr algn="l">
              <a:lnSpc>
                <a:spcPct val="118000"/>
              </a:lnSpc>
            </a:pPr>
            <a:endParaRPr sz="15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Success ✅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Aspire: whole ÷ fraction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Grow: unit rates with fractions/decimals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Succeed: explain with units + context</a:t>
            </a:r>
          </a:p>
          <a:p>
            <a:pPr algn="l">
              <a:lnSpc>
                <a:spcPct val="118000"/>
              </a:lnSpc>
            </a:pPr>
            <a:endParaRPr sz="15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Skills 💬🧠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Thinking • Communication • Self-Management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24712"/>
            <a:ext cx="1645920" cy="45720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24712"/>
            <a:ext cx="1645920" cy="4572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014984"/>
            <a:ext cx="4325112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111"/>
                </a:solidFill>
              </a:rPr>
              <a:t>Learning Objective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599432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06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✍️ .</a:t>
            </a:r>
          </a:p>
          <a:p>
            <a:pPr algn="l">
              <a:lnSpc>
                <a:spcPct val="120000"/>
              </a:lnSpc>
            </a:pPr>
            <a:endParaRPr sz="20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✅ I can: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• write a ratio as a fraction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• divide to get a unit rate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• add units (AED, km, kg, …)</a:t>
            </a:r>
          </a:p>
          <a:p>
            <a:pPr algn="l">
              <a:lnSpc>
                <a:spcPct val="120000"/>
              </a:lnSpc>
            </a:pPr>
            <a:endParaRPr sz="20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🌟 Unit rate = “for 1”.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5953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Key Vocabulary 📚 (Say it, draw it, remember 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301752"/>
            <a:ext cx="2057400" cy="36576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64040" y="301752"/>
            <a:ext cx="20574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16"/>
                </a:solidFill>
              </a:rPr>
              <a:t>Words to Know 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Vocabulary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Ratio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Unit Rate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Fraction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Proportion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Numerator / Denominator</a:t>
            </a:r>
          </a:p>
          <a:p>
            <a:pPr algn="l">
              <a:lnSpc>
                <a:spcPct val="114000"/>
              </a:lnSpc>
            </a:pPr>
            <a:endParaRPr sz="1600" b="0">
              <a:solidFill>
                <a:srgbClr val="0D1B0D"/>
              </a:solidFill>
            </a:endParaRP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Tip ⭐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Numerator = top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Denominator = bottom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69164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6916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A3B00"/>
                </a:solidFill>
              </a:rPr>
              <a:t>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033272"/>
            <a:ext cx="43251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111"/>
                </a:solidFill>
              </a:rPr>
              <a:t>Key Vocabulary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🎲 Make it fun!</a:t>
            </a:r>
          </a:p>
          <a:p>
            <a:pPr algn="l">
              <a:lnSpc>
                <a:spcPct val="120000"/>
              </a:lnSpc>
            </a:pPr>
            <a:endParaRPr sz="22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Write each word.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Draw a tiny picture.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Say it out loud.</a:t>
            </a:r>
          </a:p>
          <a:p>
            <a:pPr algn="l">
              <a:lnSpc>
                <a:spcPct val="120000"/>
              </a:lnSpc>
            </a:pPr>
            <a:endParaRPr sz="22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Example: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• Unit rate = “per 1” 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Key Vocabulary 📚 (Say it + draw 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Words to Know 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73352"/>
            <a:ext cx="4123944" cy="4727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Vocabulary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Ratio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Unit Rate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Fraction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Proportion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Numerator / Denominator</a:t>
            </a:r>
          </a:p>
          <a:p>
            <a:pPr algn="l">
              <a:lnSpc>
                <a:spcPct val="118000"/>
              </a:lnSpc>
            </a:pPr>
            <a:endParaRPr sz="15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Tip ⭐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Numerator = top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Denominator = bottom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24712"/>
            <a:ext cx="1645920" cy="45720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24712"/>
            <a:ext cx="1645920" cy="4572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WORDS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014984"/>
            <a:ext cx="4325112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111"/>
                </a:solidFill>
              </a:rPr>
              <a:t>Key Vocabulary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599432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06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🎲 Make it fun!</a:t>
            </a:r>
          </a:p>
          <a:p>
            <a:pPr algn="l">
              <a:lnSpc>
                <a:spcPct val="120000"/>
              </a:lnSpc>
            </a:pPr>
            <a:endParaRPr sz="20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Write each word.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Draw a tiny picture.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☑️ Say it out loud.</a:t>
            </a:r>
          </a:p>
          <a:p>
            <a:pPr algn="l">
              <a:lnSpc>
                <a:spcPct val="120000"/>
              </a:lnSpc>
            </a:pPr>
            <a:endParaRPr sz="20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Example:</a:t>
            </a:r>
          </a:p>
          <a:p>
            <a:pPr algn="l">
              <a:lnSpc>
                <a:spcPct val="120000"/>
              </a:lnSpc>
            </a:pPr>
            <a:r>
              <a:rPr sz="2000" b="0">
                <a:solidFill>
                  <a:srgbClr val="0C2238"/>
                </a:solidFill>
              </a:rPr>
              <a:t>• Unit rate = “per 1” 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5953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Engage 💬 (Talk + simple examples)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301752"/>
            <a:ext cx="2057400" cy="36576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64040" y="301752"/>
            <a:ext cx="20574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16"/>
                </a:solidFill>
              </a:rPr>
              <a:t>Success Steps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1) Read 👀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2) Write fraction ➗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3) Divide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4) Say unit + meaning 💬</a:t>
            </a:r>
          </a:p>
          <a:p>
            <a:pPr algn="l">
              <a:lnSpc>
                <a:spcPct val="114000"/>
              </a:lnSpc>
            </a:pPr>
            <a:endParaRPr sz="1600" b="0">
              <a:solidFill>
                <a:srgbClr val="0D1B0D"/>
              </a:solidFill>
            </a:endParaRP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UAE Link 🏗️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materials per 1 room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paint per 1 wall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cost per 1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69164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6916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A3B00"/>
                </a:solidFill>
              </a:rPr>
              <a:t>TALK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033272"/>
            <a:ext cx="43251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111"/>
                </a:solidFill>
              </a:rPr>
              <a:t>Engage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7843" y="1847088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dirty="0">
                <a:solidFill>
                  <a:srgbClr val="0C2238"/>
                </a:solidFill>
              </a:rPr>
              <a:t>💬 Talk Time</a:t>
            </a:r>
          </a:p>
          <a:p>
            <a:pPr algn="l">
              <a:lnSpc>
                <a:spcPct val="120000"/>
              </a:lnSpc>
            </a:pPr>
            <a:endParaRPr sz="22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200" b="0" dirty="0">
                <a:solidFill>
                  <a:srgbClr val="0C2238"/>
                </a:solidFill>
              </a:rPr>
              <a:t>Question:</a:t>
            </a:r>
          </a:p>
          <a:p>
            <a:pPr algn="l">
              <a:lnSpc>
                <a:spcPct val="120000"/>
              </a:lnSpc>
            </a:pPr>
            <a:r>
              <a:rPr sz="2200" b="0" dirty="0">
                <a:solidFill>
                  <a:srgbClr val="0C2238"/>
                </a:solidFill>
              </a:rPr>
              <a:t>When do we use unit rates?</a:t>
            </a:r>
          </a:p>
          <a:p>
            <a:pPr algn="l">
              <a:lnSpc>
                <a:spcPct val="120000"/>
              </a:lnSpc>
            </a:pPr>
            <a:endParaRPr sz="22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200" b="0" dirty="0">
                <a:solidFill>
                  <a:srgbClr val="0C2238"/>
                </a:solidFill>
              </a:rPr>
              <a:t>⭐ Examples:</a:t>
            </a:r>
          </a:p>
          <a:p>
            <a:pPr algn="l">
              <a:lnSpc>
                <a:spcPct val="120000"/>
              </a:lnSpc>
            </a:pPr>
            <a:r>
              <a:rPr sz="2200" b="0" dirty="0">
                <a:solidFill>
                  <a:srgbClr val="0C2238"/>
                </a:solidFill>
              </a:rPr>
              <a:t>• AED per 1 item 🛍️</a:t>
            </a:r>
          </a:p>
          <a:p>
            <a:pPr algn="l">
              <a:lnSpc>
                <a:spcPct val="120000"/>
              </a:lnSpc>
            </a:pPr>
            <a:r>
              <a:rPr sz="2200" b="0" dirty="0">
                <a:solidFill>
                  <a:srgbClr val="0C2238"/>
                </a:solidFill>
              </a:rPr>
              <a:t>• km per 1 hour 🚗</a:t>
            </a:r>
          </a:p>
          <a:p>
            <a:pPr algn="l">
              <a:lnSpc>
                <a:spcPct val="120000"/>
              </a:lnSpc>
            </a:pPr>
            <a:r>
              <a:rPr sz="2200" b="0" dirty="0">
                <a:solidFill>
                  <a:srgbClr val="0C2238"/>
                </a:solidFill>
              </a:rPr>
              <a:t>• liters per 1 day 💧</a:t>
            </a:r>
          </a:p>
          <a:p>
            <a:pPr algn="l">
              <a:lnSpc>
                <a:spcPct val="120000"/>
              </a:lnSpc>
            </a:pPr>
            <a:endParaRPr sz="22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200" b="0" dirty="0">
                <a:solidFill>
                  <a:srgbClr val="0C2238"/>
                </a:solidFill>
              </a:rPr>
              <a:t>👫 Share one example.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Engage 💬 (Talk + examples)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Success Steps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73352"/>
            <a:ext cx="4123944" cy="4727448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1) Read 👀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2) Write fraction ➗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3) Divide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4) Say unit + meaning 💬</a:t>
            </a:r>
          </a:p>
          <a:p>
            <a:pPr algn="l">
              <a:lnSpc>
                <a:spcPct val="118000"/>
              </a:lnSpc>
            </a:pPr>
            <a:endParaRPr sz="15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UAE Link 🏗️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materials per 1 room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paint per 1 wall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D1B0D"/>
                </a:solidFill>
              </a:rPr>
              <a:t>• cost per 1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24712"/>
            <a:ext cx="1645920" cy="45720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24712"/>
            <a:ext cx="1645920" cy="457200"/>
          </a:xfrm>
          <a:prstGeom prst="rect">
            <a:avLst/>
          </a:prstGeom>
          <a:noFill/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TALK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52360" y="1014984"/>
            <a:ext cx="4325112" cy="7498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111"/>
                </a:solidFill>
              </a:rPr>
              <a:t>Engage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599432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57823" y="1938528"/>
            <a:ext cx="5742432" cy="4306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0C2238"/>
                </a:solidFill>
              </a:rPr>
              <a:t>💬 Talk Time</a:t>
            </a:r>
          </a:p>
          <a:p>
            <a:pPr algn="l">
              <a:lnSpc>
                <a:spcPct val="120000"/>
              </a:lnSpc>
            </a:pPr>
            <a:endParaRPr sz="20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0C2238"/>
                </a:solidFill>
              </a:rPr>
              <a:t>Question: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0C2238"/>
                </a:solidFill>
              </a:rPr>
              <a:t>When do we use unit rates?</a:t>
            </a:r>
          </a:p>
          <a:p>
            <a:pPr algn="l">
              <a:lnSpc>
                <a:spcPct val="120000"/>
              </a:lnSpc>
            </a:pPr>
            <a:endParaRPr sz="20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0C2238"/>
                </a:solidFill>
              </a:rPr>
              <a:t>⭐ Examples: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0C2238"/>
                </a:solidFill>
              </a:rPr>
              <a:t>• AED per 1 item 🛍️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0C2238"/>
                </a:solidFill>
              </a:rPr>
              <a:t>• km per 1 hour 🚗</a:t>
            </a: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0C2238"/>
                </a:solidFill>
              </a:rPr>
              <a:t>• liters per 1 day 💧</a:t>
            </a:r>
          </a:p>
          <a:p>
            <a:pPr algn="l">
              <a:lnSpc>
                <a:spcPct val="120000"/>
              </a:lnSpc>
            </a:pPr>
            <a:endParaRPr sz="20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000" b="0" dirty="0">
                <a:solidFill>
                  <a:srgbClr val="0C2238"/>
                </a:solidFill>
              </a:rPr>
              <a:t>👫 Share one example.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0292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595360" cy="41148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Pre-Assessment ✍️ (Try with a model)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64040" y="301752"/>
            <a:ext cx="2057400" cy="36576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64040" y="301752"/>
            <a:ext cx="2057400" cy="36576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B2B16"/>
                </a:solidFill>
              </a:rPr>
              <a:t>Pre-Assessment ✍️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Think 🧠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Why does “per 1 hour” change the value?</a:t>
            </a:r>
          </a:p>
          <a:p>
            <a:pPr algn="l">
              <a:lnSpc>
                <a:spcPct val="114000"/>
              </a:lnSpc>
            </a:pPr>
            <a:endParaRPr sz="1600" b="0">
              <a:solidFill>
                <a:srgbClr val="0D1B0D"/>
              </a:solidFill>
            </a:endParaRP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Draw 🎨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a bar model OR</a:t>
            </a: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• a ratio table</a:t>
            </a:r>
          </a:p>
          <a:p>
            <a:pPr algn="l">
              <a:lnSpc>
                <a:spcPct val="114000"/>
              </a:lnSpc>
            </a:pPr>
            <a:endParaRPr sz="1600" b="0">
              <a:solidFill>
                <a:srgbClr val="0D1B0D"/>
              </a:solidFill>
            </a:endParaRPr>
          </a:p>
          <a:p>
            <a:pPr algn="l">
              <a:lnSpc>
                <a:spcPct val="114000"/>
              </a:lnSpc>
            </a:pPr>
            <a:r>
              <a:rPr sz="1600" b="0">
                <a:solidFill>
                  <a:srgbClr val="0D1B0D"/>
                </a:solidFill>
              </a:rPr>
              <a:t>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69164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69164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4A3B00"/>
                </a:solidFill>
              </a:rPr>
              <a:t>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0" y="1033272"/>
            <a:ext cx="432511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11111"/>
                </a:solidFill>
              </a:rPr>
              <a:t>Pre-Assessment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⭐ Your Task</a:t>
            </a:r>
          </a:p>
          <a:p>
            <a:pPr algn="l">
              <a:lnSpc>
                <a:spcPct val="120000"/>
              </a:lnSpc>
            </a:pPr>
            <a:endParaRPr sz="22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Write the ratio.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Show your model.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☑️ Find the unit rate.</a:t>
            </a:r>
          </a:p>
          <a:p>
            <a:pPr algn="l">
              <a:lnSpc>
                <a:spcPct val="120000"/>
              </a:lnSpc>
            </a:pPr>
            <a:endParaRPr sz="22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💬 Sentence:</a:t>
            </a: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0C2238"/>
                </a:solidFill>
              </a:rPr>
              <a:t>‘The unit rate means ____ per 1 ____.’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Practice &amp; Problem Solving ✍️ (One step at a time)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147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960120"/>
            <a:ext cx="11475720" cy="640080"/>
          </a:xfrm>
          <a:prstGeom prst="roundRect">
            <a:avLst/>
          </a:prstGeom>
          <a:solidFill>
            <a:srgbClr val="FFF3C4"/>
          </a:solidFill>
          <a:ln w="1651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024128"/>
            <a:ext cx="11109960" cy="512064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4A3B00"/>
                </a:solidFill>
              </a:rPr>
              <a:t>⭐ Directions: Try 4 questions. Use a model. Write neatly. 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1475720" cy="3246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96112" y="1947672"/>
            <a:ext cx="11146536" cy="53035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11018520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C2238"/>
                </a:solidFill>
              </a:rPr>
              <a:t>Practice Box ✅ (Fill the blanks)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0976" y="2624328"/>
            <a:ext cx="5463540" cy="1033272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2416" y="2697480"/>
            <a:ext cx="5280660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7️⃣ 80% of 60 players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= ____ players</a:t>
            </a:r>
          </a:p>
          <a:p>
            <a:pPr algn="l">
              <a:lnSpc>
                <a:spcPct val="115000"/>
              </a:lnSpc>
            </a:pPr>
            <a:endParaRPr sz="1400" b="0">
              <a:solidFill>
                <a:srgbClr val="0C2238"/>
              </a:solidFill>
            </a:endParaRP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☑️ 80/100 × 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24244" y="2624328"/>
            <a:ext cx="5463540" cy="1033272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15684" y="2697480"/>
            <a:ext cx="5280660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8️⃣ 20% of 20 uniforms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= ____ uniforms</a:t>
            </a:r>
          </a:p>
          <a:p>
            <a:pPr algn="l">
              <a:lnSpc>
                <a:spcPct val="115000"/>
              </a:lnSpc>
            </a:pPr>
            <a:endParaRPr sz="1400" b="0">
              <a:solidFill>
                <a:srgbClr val="0C2238"/>
              </a:solidFill>
            </a:endParaRP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☑️ 20/100 × 20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" y="3767328"/>
            <a:ext cx="5463540" cy="1033272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2416" y="3840480"/>
            <a:ext cx="5280660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🔟 4% of 7,200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= ____</a:t>
            </a:r>
          </a:p>
          <a:p>
            <a:pPr algn="l">
              <a:lnSpc>
                <a:spcPct val="115000"/>
              </a:lnSpc>
            </a:pPr>
            <a:endParaRPr sz="1400" b="0">
              <a:solidFill>
                <a:srgbClr val="0C2238"/>
              </a:solidFill>
            </a:endParaRP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☑️ 4/100 × 7200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24244" y="3767328"/>
            <a:ext cx="5463540" cy="1033272"/>
          </a:xfrm>
          <a:prstGeom prst="roundRect">
            <a:avLst/>
          </a:prstGeom>
          <a:solidFill>
            <a:srgbClr val="F5FA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15684" y="3840480"/>
            <a:ext cx="5280660" cy="8869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1️⃣2️⃣ Sales tax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$40 at 4%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Tax = ____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0C2238"/>
                </a:solidFill>
              </a:rPr>
              <a:t>Total = ____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66360"/>
            <a:ext cx="11475720" cy="1417320"/>
          </a:xfrm>
          <a:prstGeom prst="roundRect">
            <a:avLst/>
          </a:prstGeom>
          <a:solidFill>
            <a:srgbClr val="E8F5E9"/>
          </a:solidFill>
          <a:ln w="203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303520"/>
            <a:ext cx="914400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 dirty="0">
                <a:solidFill>
                  <a:srgbClr val="0D1B0D"/>
                </a:solidFill>
              </a:rPr>
              <a:t>🧠 Reasoning:</a:t>
            </a:r>
          </a:p>
          <a:p>
            <a:pPr algn="l">
              <a:lnSpc>
                <a:spcPct val="118000"/>
              </a:lnSpc>
            </a:pPr>
            <a:r>
              <a:rPr sz="1600" b="0" dirty="0">
                <a:solidFill>
                  <a:srgbClr val="0D1B0D"/>
                </a:solidFill>
              </a:rPr>
              <a:t>How does the answer change if you split first, then find the percent?</a:t>
            </a:r>
          </a:p>
          <a:p>
            <a:pPr algn="l">
              <a:lnSpc>
                <a:spcPct val="118000"/>
              </a:lnSpc>
            </a:pPr>
            <a:r>
              <a:rPr sz="1600" b="0" dirty="0">
                <a:solidFill>
                  <a:srgbClr val="0D1B0D"/>
                </a:solidFill>
              </a:rPr>
              <a:t>Write 1 sentence.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Assessment Practice ✅ (Show your thinking)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960120"/>
            <a:ext cx="11475720" cy="1005840"/>
          </a:xfrm>
          <a:prstGeom prst="roundRect">
            <a:avLst/>
          </a:prstGeom>
          <a:solidFill>
            <a:srgbClr val="FFF3C4"/>
          </a:solidFill>
          <a:ln w="1651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051560"/>
            <a:ext cx="11109960" cy="8229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4A3B00"/>
                </a:solidFill>
              </a:rPr>
              <a:t>⭐ Big Question:</a:t>
            </a:r>
          </a:p>
          <a:p>
            <a:pPr algn="l">
              <a:lnSpc>
                <a:spcPct val="112000"/>
              </a:lnSpc>
            </a:pPr>
            <a:r>
              <a:rPr sz="1800" b="1">
                <a:solidFill>
                  <a:srgbClr val="4A3B00"/>
                </a:solidFill>
              </a:rPr>
              <a:t>Who earns more in a week? Use numbers and explain. 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03120"/>
            <a:ext cx="11475720" cy="3246120"/>
          </a:xfrm>
          <a:prstGeom prst="roundRect">
            <a:avLst/>
          </a:prstGeom>
          <a:solidFill>
            <a:srgbClr val="F5FAFF"/>
          </a:solidFill>
          <a:ln w="1905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240280"/>
            <a:ext cx="7772400" cy="2926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20️⃣ Pamela earns $20 per hour.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John earns $65 per pupil.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Pamela works 40 hours.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John has 11 pupils.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☑️ Step 1: Find Pamela’s weekly pay.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☑️ Step 2: Find John’s weekly pay.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☑️ Step 3: Compare and explain.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2240280"/>
            <a:ext cx="320040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06840" y="2331720"/>
            <a:ext cx="2926080" cy="12344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>
                <a:solidFill>
                  <a:srgbClr val="0C2238"/>
                </a:solidFill>
              </a:rPr>
              <a:t>✍️ Answer:</a:t>
            </a:r>
          </a:p>
          <a:p>
            <a:pPr algn="l">
              <a:lnSpc>
                <a:spcPct val="112000"/>
              </a:lnSpc>
            </a:pPr>
            <a:r>
              <a:rPr sz="1800" b="1">
                <a:solidFill>
                  <a:srgbClr val="0C2238"/>
                </a:solidFill>
              </a:rPr>
              <a:t>______________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3794760"/>
            <a:ext cx="3200400" cy="155448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06840" y="3886200"/>
            <a:ext cx="2926080" cy="1371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0D1B0D"/>
                </a:solidFill>
              </a:rPr>
              <a:t>✅ Check: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0D1B0D"/>
                </a:solidFill>
              </a:rPr>
              <a:t>Show units ($).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0D1B0D"/>
                </a:solidFill>
              </a:rPr>
              <a:t>Write one sentence.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Lesson 3-2 Connect Percent and Proportion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05840"/>
            <a:ext cx="6858000" cy="2651760"/>
          </a:xfrm>
          <a:prstGeom prst="roundRect">
            <a:avLst/>
          </a:prstGeom>
          <a:solidFill>
            <a:srgbClr val="F5FAFF"/>
          </a:solidFill>
          <a:ln w="1905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22960" y="1115568"/>
            <a:ext cx="6675120" cy="56692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152144"/>
            <a:ext cx="6492240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A3B00"/>
                </a:solidFill>
              </a:rPr>
              <a:t>Solve &amp; Discuss It! 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783080"/>
            <a:ext cx="5852160" cy="17373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0C2238"/>
                </a:solidFill>
              </a:rPr>
              <a:t>⭐ Read the problem.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0C2238"/>
                </a:solidFill>
              </a:rPr>
              <a:t>☑️ Draw a quick model.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0C2238"/>
                </a:solidFill>
              </a:rPr>
              <a:t>☑️ Write a proportion.</a:t>
            </a:r>
          </a:p>
          <a:p>
            <a:pPr algn="l">
              <a:lnSpc>
                <a:spcPct val="120000"/>
              </a:lnSpc>
            </a:pPr>
            <a:r>
              <a:rPr sz="1600" b="0">
                <a:solidFill>
                  <a:srgbClr val="0C2238"/>
                </a:solidFill>
              </a:rPr>
              <a:t>💬 Explain your answer.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1005840"/>
            <a:ext cx="3657600" cy="2651760"/>
          </a:xfrm>
          <a:prstGeom prst="roundRect">
            <a:avLst/>
          </a:prstGeom>
          <a:solidFill>
            <a:srgbClr val="E8F5E9"/>
          </a:solidFill>
          <a:ln w="228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55279" y="1188720"/>
            <a:ext cx="3383280" cy="2286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0D1B0D"/>
                </a:solidFill>
              </a:rPr>
              <a:t>I can…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D1B0D"/>
                </a:solidFill>
              </a:rPr>
              <a:t>use proportions to solve percent problems. 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10744200" cy="2697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069080"/>
            <a:ext cx="10469880" cy="53035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096512"/>
            <a:ext cx="1019556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C2238"/>
                </a:solidFill>
              </a:rPr>
              <a:t>Focus on Math Practices 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663440"/>
            <a:ext cx="10195560" cy="1783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>✅ Make Sense and Persevere: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>Explain your thinking using words and a model.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48640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321040" cy="43891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Use a Proportion to Find the Percent 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26880" y="320040"/>
            <a:ext cx="224028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0" y="320040"/>
            <a:ext cx="224028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960120"/>
            <a:ext cx="71780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97280"/>
            <a:ext cx="6903720" cy="53035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115568"/>
            <a:ext cx="662940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C2238"/>
                </a:solidFill>
              </a:rPr>
              <a:t>EXAMPLE 1 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37360"/>
            <a:ext cx="6766560" cy="1554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>Problem: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>Emily made 9 shots out of 12.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>What percent did she make?</a:t>
            </a:r>
          </a:p>
          <a:p>
            <a:pPr algn="l">
              <a:lnSpc>
                <a:spcPct val="118000"/>
              </a:lnSpc>
            </a:pPr>
            <a:endParaRPr sz="16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>☑️ Part / Whole = Percent /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960120"/>
            <a:ext cx="4114800" cy="2468880"/>
          </a:xfrm>
          <a:prstGeom prst="roundRect">
            <a:avLst/>
          </a:prstGeom>
          <a:solidFill>
            <a:srgbClr val="E8F5E9"/>
          </a:solidFill>
          <a:ln w="2032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143000"/>
            <a:ext cx="3749039" cy="21031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Steps ✅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1) Write: 9/12 = p/100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2) Multiply: 9 × 100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3) Divide by 12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4) p = 75</a:t>
            </a:r>
          </a:p>
          <a:p>
            <a:pPr algn="l">
              <a:lnSpc>
                <a:spcPct val="118000"/>
              </a:lnSpc>
            </a:pPr>
            <a:endParaRPr sz="16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Answer: 75% 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11880"/>
            <a:ext cx="11475720" cy="2971800"/>
          </a:xfrm>
          <a:prstGeom prst="roundRect">
            <a:avLst/>
          </a:prstGeom>
          <a:solidFill>
            <a:srgbClr val="F5FAFF"/>
          </a:solidFill>
          <a:ln w="1905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3749039"/>
            <a:ext cx="11201400" cy="530352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767328"/>
            <a:ext cx="1092708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4A3B00"/>
                </a:solidFill>
              </a:rPr>
              <a:t>Try It! ✍️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434840"/>
            <a:ext cx="7223760" cy="20116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425695"/>
            <a:ext cx="6949440" cy="1783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Camila made 2 shots out of 5.</a:t>
            </a:r>
          </a:p>
          <a:p>
            <a:pPr algn="l">
              <a:lnSpc>
                <a:spcPct val="118000"/>
              </a:lnSpc>
            </a:pPr>
            <a:endParaRPr sz="15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☑️ Write: 2/5 = p/100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☑️ Solve for p</a:t>
            </a:r>
          </a:p>
          <a:p>
            <a:pPr algn="l">
              <a:lnSpc>
                <a:spcPct val="118000"/>
              </a:lnSpc>
            </a:pPr>
            <a:endParaRPr sz="15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Camila made ____ %.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Camila’s percent is ____ Emily’s.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4434840"/>
            <a:ext cx="3657600" cy="201168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4553712"/>
            <a:ext cx="3383280" cy="17830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🧠 Quick Tip: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Multiply by 100.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Then divide.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Key Concept 🔑 Part / Whole = Percent / 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Do You Understand?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1) Essential Question: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How does proportional reasoning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relate to percent?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2) Reasoning: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Why does one ratio have a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denominator of 100?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3) Construct Arguments: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If 75/w = 150/100,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Is w less than 75 or greater?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Explain using percent words.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Do You Know How? ✍️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8504" y="1975104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4) Write a percent proportion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for the bar diagram.</a:t>
            </a:r>
          </a:p>
          <a:p>
            <a:pPr algn="l">
              <a:lnSpc>
                <a:spcPct val="120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5) Use a proportion.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a) 2% of 180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b) What percent is 17 out of 40?</a:t>
            </a:r>
          </a:p>
          <a:p>
            <a:pPr algn="l">
              <a:lnSpc>
                <a:spcPct val="120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6) Construct Arguments: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A car is worth $3,000.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She wants at least 70%.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She sold it for $1,800.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Did she meet her goal?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Practice &amp; Problem Solving ✍️ (Fill the boxes)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Level Practice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7) Rabbit population: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This year is 200%.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This year = 1,100.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Find last year.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9) Survey pie chart: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What percent are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completely satisfied?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11) Tip &amp; tax: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Tip = $3.50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Tax = 7%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Tip = 20% of cost incl. tax.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a) What info is not needed?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b) Find the total bill.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More Practice 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911096"/>
            <a:ext cx="5742432" cy="4298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8) Shampoo trial: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3,000 people tried.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9 had a mild reaction.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What percent?</a:t>
            </a:r>
          </a:p>
          <a:p>
            <a:pPr algn="l">
              <a:lnSpc>
                <a:spcPct val="120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10) Apartment: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Price $240,000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Down payment $60,000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a) What percent is 60,000?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b) What percent is 12,000?</a:t>
            </a:r>
          </a:p>
          <a:p>
            <a:pPr algn="l">
              <a:lnSpc>
                <a:spcPct val="120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12) Reasoning: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Estimate 380% of 60.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Assessment Practice ✅ (Show steps)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Construct &amp; Explain 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13) Critique Reasoning: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Is 35% junk mail reasonable?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Explain.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14) Percent read: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13 of 22 chapters.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15) Quarters: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School year has 4 quarters.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What percent is 7 quarters?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16) Construct Arguments: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27% students, 94% staff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drive; ratio students:staff = 10:1.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Explain how students driving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could be greater in number.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ASSESS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Higher-Order Thinking 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87705" y="1847088"/>
            <a:ext cx="5742432" cy="4412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17) Bike &amp; helmet: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Sold for $114 and $18.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That is 120% of what was spent.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a) How much was spent?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b) How much profit?</a:t>
            </a:r>
          </a:p>
          <a:p>
            <a:pPr algn="l">
              <a:lnSpc>
                <a:spcPct val="120000"/>
              </a:lnSpc>
            </a:pPr>
            <a:endParaRPr sz="16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18) Nicole spent $30 last month.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This month she spent 140%.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Write an equation and find amount.</a:t>
            </a:r>
          </a:p>
          <a:p>
            <a:pPr algn="l">
              <a:lnSpc>
                <a:spcPct val="120000"/>
              </a:lnSpc>
            </a:pPr>
            <a:endParaRPr sz="16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19) Mr. Jones sells paddles for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180% of purchase price.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Part A: Find sales tax rate.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Part B: If cost is $35, how many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paddles to sell for at least $250?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Lesson 3-3 Represent and Use the Percent Equation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05840"/>
            <a:ext cx="7132320" cy="2834640"/>
          </a:xfrm>
          <a:prstGeom prst="roundRect">
            <a:avLst/>
          </a:prstGeom>
          <a:solidFill>
            <a:srgbClr val="F5FAFF"/>
          </a:solidFill>
          <a:ln w="1905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143000"/>
            <a:ext cx="6858000" cy="54864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170432"/>
            <a:ext cx="6583680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A3B00"/>
                </a:solidFill>
              </a:rPr>
              <a:t>Solve &amp; Discuss It! 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6766560" cy="1828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Fran is shopping for shoes.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Two pairs have good reviews.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Which pair should she buy?</a:t>
            </a:r>
          </a:p>
          <a:p>
            <a:pPr algn="l">
              <a:lnSpc>
                <a:spcPct val="118000"/>
              </a:lnSpc>
            </a:pPr>
            <a:endParaRPr sz="15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☑️ Step 1: Make each percent.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☑️ Step 2: Compare.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💬 Explain your choice.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005840"/>
            <a:ext cx="4069080" cy="2834640"/>
          </a:xfrm>
          <a:prstGeom prst="roundRect">
            <a:avLst/>
          </a:prstGeom>
          <a:solidFill>
            <a:srgbClr val="E8F5E9"/>
          </a:solidFill>
          <a:ln w="228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234440"/>
            <a:ext cx="3703320" cy="2423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I can… ✅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represent and solve percent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problems using equations.</a:t>
            </a:r>
          </a:p>
          <a:p>
            <a:pPr algn="l">
              <a:lnSpc>
                <a:spcPct val="118000"/>
              </a:lnSpc>
            </a:pPr>
            <a:endParaRPr sz="16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🌟 Big idea: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part = percent × whole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114757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206240"/>
            <a:ext cx="11201400" cy="53035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233672"/>
            <a:ext cx="1092708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C2238"/>
                </a:solidFill>
              </a:rPr>
              <a:t>Focus on Math Practices 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00600"/>
            <a:ext cx="10927080" cy="1691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>Model with Math: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>Describe another situation where ratios can help you make a decision.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Example 1 Find the Percent 📊 (Percent Equation)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Example 1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Maria is 60 inches tall.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Her vertical reach is 75 inches.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Question: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What percent of her total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reach is her height?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☑️ Use: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part = percent × whole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Try It! ✍️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9568" y="2027110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An elephant weighs 15,000</a:t>
            </a:r>
            <a:r>
              <a:rPr sz="1800" b="0" dirty="0" err="1">
                <a:solidFill>
                  <a:srgbClr val="0C2238"/>
                </a:solidFill>
              </a:rPr>
              <a:t>lb</a:t>
            </a: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on Earth and 2,500</a:t>
            </a:r>
            <a:r>
              <a:rPr sz="1800" b="0" dirty="0" err="1">
                <a:solidFill>
                  <a:srgbClr val="0C2238"/>
                </a:solidFill>
              </a:rPr>
              <a:t>lb</a:t>
            </a:r>
            <a:r>
              <a:rPr sz="1800" b="0" dirty="0">
                <a:solidFill>
                  <a:srgbClr val="0C2238"/>
                </a:solidFill>
              </a:rPr>
              <a:t>on Moon.</a:t>
            </a:r>
          </a:p>
          <a:p>
            <a:pPr algn="l">
              <a:lnSpc>
                <a:spcPct val="120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☑️ Write: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part / whole = p / 100</a:t>
            </a:r>
          </a:p>
          <a:p>
            <a:pPr algn="l">
              <a:lnSpc>
                <a:spcPct val="120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Find p.</a:t>
            </a:r>
          </a:p>
          <a:p>
            <a:pPr algn="l">
              <a:lnSpc>
                <a:spcPct val="120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Answer: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The elephant’s Moon weight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is about ____ % of Earth weight.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Example 2–3 Use Percent Equation 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Example 2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A room length is 4 m.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New length is 175%.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☑️ Write: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new = 1.75 × old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Find the new length.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Answer: ____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Example 3 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0C2238"/>
                </a:solidFill>
              </a:rPr>
              <a:t>Soy milk label: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0C2238"/>
                </a:solidFill>
              </a:rPr>
              <a:t>20% calcium = 260 mg</a:t>
            </a:r>
          </a:p>
          <a:p>
            <a:pPr algn="l">
              <a:lnSpc>
                <a:spcPct val="120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0C2238"/>
                </a:solidFill>
              </a:rPr>
              <a:t>☑️ Use proportion: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0C2238"/>
                </a:solidFill>
              </a:rPr>
              <a:t>260 / w = 20 / 100</a:t>
            </a:r>
          </a:p>
          <a:p>
            <a:pPr algn="l">
              <a:lnSpc>
                <a:spcPct val="120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0C2238"/>
                </a:solidFill>
              </a:rPr>
              <a:t>Find w.</a:t>
            </a:r>
          </a:p>
          <a:p>
            <a:pPr algn="l">
              <a:lnSpc>
                <a:spcPct val="120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0C2238"/>
                </a:solidFill>
              </a:rPr>
              <a:t>Daily value = ____ mg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Lesson 3-3 Percent Equation 🧮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Example 2: Find the Part 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Meal tax = 8.44%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Bill (food + drinks) = $54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☑️ Use: part = percent × whole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Step 1: 8.44% = 0.0844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Step 2: tax = 0.0844 × 54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Step 3: tax ≈ $4.56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Reasoning 💬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What does 4.5576 mean?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Example 3: Find the Whole 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8504" y="1956816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Jane earns 5.5% commission.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Commission = $9,020</a:t>
            </a:r>
          </a:p>
          <a:p>
            <a:pPr algn="l">
              <a:lnSpc>
                <a:spcPct val="118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☑️ Use: part = percent × whole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part = 0.055 × whole</a:t>
            </a:r>
          </a:p>
          <a:p>
            <a:pPr algn="l">
              <a:lnSpc>
                <a:spcPct val="118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Step 1: 9020 = 0.055 × h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Step 2: h = 9020 ÷ 0.055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Step 3: h = 164,000</a:t>
            </a:r>
          </a:p>
          <a:p>
            <a:pPr algn="l">
              <a:lnSpc>
                <a:spcPct val="118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Answer ✅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Selling price = $164,000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Key Concept 🔑 part = percent × whole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Do You Understand?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121408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dirty="0">
                <a:solidFill>
                  <a:srgbClr val="0D1B0D"/>
                </a:solidFill>
              </a:rPr>
              <a:t>1) Essential Question:</a:t>
            </a:r>
          </a:p>
          <a:p>
            <a:pPr algn="l">
              <a:lnSpc>
                <a:spcPct val="118000"/>
              </a:lnSpc>
            </a:pPr>
            <a:r>
              <a:rPr sz="1400" b="0" dirty="0">
                <a:solidFill>
                  <a:srgbClr val="0D1B0D"/>
                </a:solidFill>
              </a:rPr>
              <a:t>How are percent problems related</a:t>
            </a:r>
          </a:p>
          <a:p>
            <a:pPr algn="l">
              <a:lnSpc>
                <a:spcPct val="118000"/>
              </a:lnSpc>
            </a:pPr>
            <a:r>
              <a:rPr sz="1400" b="0" dirty="0">
                <a:solidFill>
                  <a:srgbClr val="0D1B0D"/>
                </a:solidFill>
              </a:rPr>
              <a:t>to proportional reasoning?</a:t>
            </a:r>
          </a:p>
          <a:p>
            <a:pPr algn="l">
              <a:lnSpc>
                <a:spcPct val="118000"/>
              </a:lnSpc>
            </a:pPr>
            <a:endParaRPr sz="1400" b="0" dirty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 dirty="0">
                <a:solidFill>
                  <a:srgbClr val="0D1B0D"/>
                </a:solidFill>
              </a:rPr>
              <a:t>2) Reasoning:</a:t>
            </a:r>
          </a:p>
          <a:p>
            <a:pPr algn="l">
              <a:lnSpc>
                <a:spcPct val="118000"/>
              </a:lnSpc>
            </a:pPr>
            <a:r>
              <a:rPr sz="1400" b="0" dirty="0">
                <a:solidFill>
                  <a:srgbClr val="0D1B0D"/>
                </a:solidFill>
              </a:rPr>
              <a:t>A waiter receives $11 tip on $47.20.</a:t>
            </a:r>
          </a:p>
          <a:p>
            <a:pPr algn="l">
              <a:lnSpc>
                <a:spcPct val="118000"/>
              </a:lnSpc>
            </a:pPr>
            <a:r>
              <a:rPr sz="1400" b="0" dirty="0">
                <a:solidFill>
                  <a:srgbClr val="0D1B0D"/>
                </a:solidFill>
              </a:rPr>
              <a:t>Usually tips are 20%.</a:t>
            </a:r>
          </a:p>
          <a:p>
            <a:pPr algn="l">
              <a:lnSpc>
                <a:spcPct val="118000"/>
              </a:lnSpc>
            </a:pPr>
            <a:r>
              <a:rPr sz="1400" b="0" dirty="0">
                <a:solidFill>
                  <a:srgbClr val="0D1B0D"/>
                </a:solidFill>
              </a:rPr>
              <a:t>Is this tip typical? Explain.</a:t>
            </a:r>
          </a:p>
          <a:p>
            <a:pPr algn="l">
              <a:lnSpc>
                <a:spcPct val="118000"/>
              </a:lnSpc>
            </a:pPr>
            <a:endParaRPr sz="1400" b="0" dirty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 dirty="0">
                <a:solidFill>
                  <a:srgbClr val="0D1B0D"/>
                </a:solidFill>
              </a:rPr>
              <a:t>3) Construct Arguments:</a:t>
            </a:r>
          </a:p>
          <a:p>
            <a:pPr algn="l">
              <a:lnSpc>
                <a:spcPct val="118000"/>
              </a:lnSpc>
            </a:pPr>
            <a:r>
              <a:rPr sz="1400" b="0" dirty="0">
                <a:solidFill>
                  <a:srgbClr val="0D1B0D"/>
                </a:solidFill>
              </a:rPr>
              <a:t>About 11% of people are left-handed.</a:t>
            </a:r>
          </a:p>
          <a:p>
            <a:pPr algn="l">
              <a:lnSpc>
                <a:spcPct val="118000"/>
              </a:lnSpc>
            </a:pPr>
            <a:r>
              <a:rPr sz="1400" b="0" dirty="0">
                <a:solidFill>
                  <a:srgbClr val="0D1B0D"/>
                </a:solidFill>
              </a:rPr>
              <a:t>How many in a class of 30?</a:t>
            </a:r>
          </a:p>
          <a:p>
            <a:pPr algn="l">
              <a:lnSpc>
                <a:spcPct val="118000"/>
              </a:lnSpc>
            </a:pPr>
            <a:r>
              <a:rPr sz="1400" b="0" dirty="0">
                <a:solidFill>
                  <a:srgbClr val="0D1B0D"/>
                </a:solidFill>
              </a:rPr>
              <a:t>Justify the steps.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Do You Know How? ✍️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8504" y="2002536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4) Commission: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An agent earns 12% on a $1,000 policy.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How much commission?</a:t>
            </a:r>
          </a:p>
          <a:p>
            <a:pPr algn="l">
              <a:lnSpc>
                <a:spcPct val="118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5) Paint mix: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Seafoam green = 1.5 quarts.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Blue 70% and Yellow 30%.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Find how much yellow paint.</a:t>
            </a:r>
          </a:p>
          <a:p>
            <a:pPr algn="l">
              <a:lnSpc>
                <a:spcPct val="118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6) Sales tax: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Tax $35.99 on laptop $449.99.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About what percent tax?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Practice &amp; Problem Solving ✍️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Level Practice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7) Voters: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500 voters, 430 would vote again.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What percent?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9) Hard drive: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16 GB total.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Photos uses 3.32 GB.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What percent is used?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10) Shirt sale: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Regular $30, sale $21.75.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Sale price is what percent?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12) Sales tax table: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$39.98 at 4.5%.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Find tax.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More Practice 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30568" y="1792224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8) Letters to editor: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40 letters is 5% of readers.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How many readers?</a:t>
            </a:r>
          </a:p>
          <a:p>
            <a:pPr algn="l">
              <a:lnSpc>
                <a:spcPct val="118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11) Commission table: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Sales $768 at 4%.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Find commission.</a:t>
            </a:r>
          </a:p>
          <a:p>
            <a:pPr algn="l">
              <a:lnSpc>
                <a:spcPct val="118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13) Gratuity: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20% on $141 bill.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How much gratuity?</a:t>
            </a:r>
          </a:p>
          <a:p>
            <a:pPr algn="l">
              <a:lnSpc>
                <a:spcPct val="118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✅ Tip: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Write: part = percent × whole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Assessment Practice ✅ (Explain + show work)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160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Show Thinking 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14) University: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Accepts 70% of applicants.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25% of accepted enroll.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20,000 apply.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How many enroll?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16) Commission: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4% on $33,000 sale.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a) Commission?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b) If sales double, what happens?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17) Jewelry: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3% commission.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Prices: $110, $275, $200, $145.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a) Commission?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b) Total store sales?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ASSESS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Higher-Order 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38544" y="1819656"/>
            <a:ext cx="5742432" cy="45556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18) Company workers: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60% men.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1,380 women.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How many workers total?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Show 2 ways.</a:t>
            </a:r>
          </a:p>
          <a:p>
            <a:pPr algn="l">
              <a:lnSpc>
                <a:spcPct val="118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19) Pay options: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Option A: $19/hour for 40 hours.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Option B: 8% commission on weekly sales.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How much sales needed to match?</a:t>
            </a:r>
          </a:p>
          <a:p>
            <a:pPr algn="l">
              <a:lnSpc>
                <a:spcPct val="118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20) House sale: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$382,000. Commission 5.5%.</a:t>
            </a:r>
          </a:p>
          <a:p>
            <a:pPr algn="l">
              <a:lnSpc>
                <a:spcPct val="118000"/>
              </a:lnSpc>
            </a:pPr>
            <a:r>
              <a:rPr sz="1800" b="0" dirty="0">
                <a:solidFill>
                  <a:srgbClr val="0C2238"/>
                </a:solidFill>
              </a:rPr>
              <a:t>Agent gets 30% of agency amount.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Warm-up 🌟 (Get Ready)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Start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1475720" cy="5440680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371600"/>
            <a:ext cx="10927080" cy="64008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444752"/>
            <a:ext cx="105613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D1B0D"/>
                </a:solidFill>
              </a:rPr>
              <a:t>🧠 Pause &amp;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7772400" cy="411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☑️ Today we will use: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• part = percent × whole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✅ 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1) Circle the percent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2) Change percent to decimal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3) Multiply (for part)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4) Divide (for whole)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💬 Say it: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‘Part is percent times whole.’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892040"/>
            <a:ext cx="2926080" cy="14173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5010912"/>
            <a:ext cx="265176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✅ Rule: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Percent as decimal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= ÷100</a:t>
            </a:r>
          </a:p>
          <a:p>
            <a:pPr algn="l">
              <a:lnSpc>
                <a:spcPct val="112000"/>
              </a:lnSpc>
            </a:pPr>
            <a:endParaRPr sz="1200" b="0">
              <a:solidFill>
                <a:srgbClr val="0D1B0D"/>
              </a:solidFill>
            </a:endParaRP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Example: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12% = 0.12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Mini Practice ✅ (2 quick checks)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Check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1475720" cy="5440680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371600"/>
            <a:ext cx="10927080" cy="64008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444752"/>
            <a:ext cx="105613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D1B0D"/>
                </a:solidFill>
              </a:rPr>
              <a:t>🧠 Pause &amp;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7772400" cy="411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1) 10% of 90 = ____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2) $15 is 25% of ____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⭐ Tip: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If you see ‘of’ → multiply.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If you see ‘is ___% of’ → divide.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892040"/>
            <a:ext cx="2926080" cy="14173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5010912"/>
            <a:ext cx="265176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✅ Rule: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Percent as decimal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= ÷100</a:t>
            </a:r>
          </a:p>
          <a:p>
            <a:pPr algn="l">
              <a:lnSpc>
                <a:spcPct val="112000"/>
              </a:lnSpc>
            </a:pPr>
            <a:endParaRPr sz="1200" b="0">
              <a:solidFill>
                <a:srgbClr val="0D1B0D"/>
              </a:solidFill>
            </a:endParaRP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Example: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12% = 0.12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Mini Practice ✅ (Model it)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Check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1475720" cy="5440680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371600"/>
            <a:ext cx="10927080" cy="64008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444752"/>
            <a:ext cx="105613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D1B0D"/>
                </a:solidFill>
              </a:rPr>
              <a:t>🧠 Pause &amp;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7772400" cy="411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Draw a small bar model: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Whole is 100%.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Shade the percent.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Write the equation.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Example: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If part = 12 and percent = 30%,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whole = 12 ÷ 0.30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892040"/>
            <a:ext cx="2926080" cy="14173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5010912"/>
            <a:ext cx="265176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✅ Rule: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Percent as decimal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= ÷100</a:t>
            </a:r>
          </a:p>
          <a:p>
            <a:pPr algn="l">
              <a:lnSpc>
                <a:spcPct val="112000"/>
              </a:lnSpc>
            </a:pPr>
            <a:endParaRPr sz="1200" b="0">
              <a:solidFill>
                <a:srgbClr val="0D1B0D"/>
              </a:solidFill>
            </a:endParaRP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Example: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12% = 0.12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Mini Practice ✅ (Word to equation)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Check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1475720" cy="5440680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371600"/>
            <a:ext cx="10927080" cy="64008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444752"/>
            <a:ext cx="105613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D1B0D"/>
                </a:solidFill>
              </a:rPr>
              <a:t>🧠 Pause &amp;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7772400" cy="411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Turn each into an equation: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1) tax is 8% of 50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2) tip is 20% of 120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3) 45 is 15% of w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098280" y="4892040"/>
            <a:ext cx="2926080" cy="14173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5010912"/>
            <a:ext cx="265176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✅ Rule: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Percent as decimal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= ÷100</a:t>
            </a:r>
          </a:p>
          <a:p>
            <a:pPr algn="l">
              <a:lnSpc>
                <a:spcPct val="112000"/>
              </a:lnSpc>
            </a:pPr>
            <a:endParaRPr sz="1200" b="0">
              <a:solidFill>
                <a:srgbClr val="0D1B0D"/>
              </a:solidFill>
            </a:endParaRP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Example: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12% = 0.12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Exit Ticket 🎟️ (One question)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Exit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97280"/>
            <a:ext cx="11475720" cy="5440680"/>
          </a:xfrm>
          <a:prstGeom prst="roundRect">
            <a:avLst/>
          </a:prstGeom>
          <a:solidFill>
            <a:srgbClr val="F5FAFF"/>
          </a:solidFill>
          <a:ln w="2032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371600"/>
            <a:ext cx="10927080" cy="640080"/>
          </a:xfrm>
          <a:prstGeom prst="roundRect">
            <a:avLst/>
          </a:prstGeom>
          <a:solidFill>
            <a:srgbClr val="E8F5E9"/>
          </a:solidFill>
          <a:ln w="1778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1444752"/>
            <a:ext cx="1056132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D1B0D"/>
                </a:solidFill>
              </a:rPr>
              <a:t>🧠 Pause &amp;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7772400" cy="4114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A store gives a 15% discount.</a:t>
            </a: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The discount is $12.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☑️ What was the original price?</a:t>
            </a:r>
          </a:p>
          <a:p>
            <a:pPr algn="l">
              <a:lnSpc>
                <a:spcPct val="118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800" b="0">
                <a:solidFill>
                  <a:srgbClr val="0C2238"/>
                </a:solidFill>
              </a:rPr>
              <a:t>Write 1 sentence to explain.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4892040"/>
            <a:ext cx="2926080" cy="1417320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0" y="5010912"/>
            <a:ext cx="2651760" cy="11430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✅ Rule: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Percent as decimal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= ÷100</a:t>
            </a:r>
          </a:p>
          <a:p>
            <a:pPr algn="l">
              <a:lnSpc>
                <a:spcPct val="112000"/>
              </a:lnSpc>
            </a:pPr>
            <a:endParaRPr sz="1200" b="0">
              <a:solidFill>
                <a:srgbClr val="0D1B0D"/>
              </a:solidFill>
            </a:endParaRP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Example:</a:t>
            </a:r>
          </a:p>
          <a:p>
            <a:pPr algn="l">
              <a:lnSpc>
                <a:spcPct val="112000"/>
              </a:lnSpc>
            </a:pPr>
            <a:r>
              <a:rPr sz="1200" b="0">
                <a:solidFill>
                  <a:srgbClr val="0D1B0D"/>
                </a:solidFill>
              </a:rPr>
              <a:t>12% = 0.12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FFFF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SAMPLE__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2935" y="6400800"/>
            <a:ext cx="1417320" cy="411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73952"/>
            <a:ext cx="9997135" cy="274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/>
            <a:r>
              <a:rPr sz="1400" b="1">
                <a:solidFill>
                  <a:srgbClr val="0C2238"/>
                </a:solidFill>
              </a:rPr>
              <a:t>Scan here 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3333</Words>
  <Application>Microsoft Office PowerPoint</Application>
  <PresentationFormat>Widescreen</PresentationFormat>
  <Paragraphs>779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Sagnik sen</cp:lastModifiedBy>
  <cp:revision>2</cp:revision>
  <dcterms:created xsi:type="dcterms:W3CDTF">2013-01-27T09:14:16Z</dcterms:created>
  <dcterms:modified xsi:type="dcterms:W3CDTF">2026-01-17T14:16:29Z</dcterms:modified>
  <cp:category/>
</cp:coreProperties>
</file>