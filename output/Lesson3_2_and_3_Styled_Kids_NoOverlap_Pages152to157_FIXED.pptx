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88720" y="2331720"/>
            <a:ext cx="9829800" cy="11887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400" b="1">
                <a:solidFill>
                  <a:srgbClr val="FFFFFF"/>
                </a:solidFill>
              </a:rPr>
              <a:t>RATIOS  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3657600"/>
            <a:ext cx="9829800" cy="7315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</a:rPr>
              <a:t>GRADE 7  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Key Concept  🔑  Part / Whole = Percent / 100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Do You Understand?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1) Essential Question: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How does proportional reasoning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relate to percent?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2) Reasoning: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Why does one ratio have a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denominator of 100?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3) Construct Arguments: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If 75/w = 150/100,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Is w less than 75 or greater?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Explain using percent words.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Do You Know How? ✍️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18504" y="1975104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4) Write a percent proportion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for the bar diagram.</a:t>
            </a:r>
          </a:p>
          <a:p>
            <a:pPr algn="l">
              <a:lnSpc>
                <a:spcPct val="120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5) Use a proportion.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 a) 2% of 180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 b) What percent is 17 out of 40?</a:t>
            </a:r>
          </a:p>
          <a:p>
            <a:pPr algn="l">
              <a:lnSpc>
                <a:spcPct val="120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6) Construct Arguments: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A car is worth $3,000.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She wants at least 70%.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She sold it for $1,800.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Did she meet her goal?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Practice &amp; Problem Solving  ✍️  (Fill the boxes)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Level Practice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7) Rabbit population: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This year is 200%.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This year = 1,100.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Find last year.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9) Survey pie chart: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What percent are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completely satisfied?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11) Tip &amp; tax: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Tip = $3.50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Tax = 7%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Tip = 20% of cost incl. tax.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 a) What info is not needed?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 b) Find the total bill.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PRACTICE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More Practice 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1911096"/>
            <a:ext cx="5742432" cy="4298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8) Shampoo trial: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3,000 people tried.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9 had a mild reaction.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What percent?</a:t>
            </a:r>
          </a:p>
          <a:p>
            <a:pPr algn="l">
              <a:lnSpc>
                <a:spcPct val="120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10) Apartment: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Price $240,000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Down payment $60,000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 a) What percent is 60,000?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 b) What percent is 12,000?</a:t>
            </a:r>
          </a:p>
          <a:p>
            <a:pPr algn="l">
              <a:lnSpc>
                <a:spcPct val="120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12) Reasoning: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Estimate 380% of 60.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Assessment Practice  ✅  (Show steps)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Construct &amp; Explain 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13) Critique Reasoning: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Is 35% junk mail reasonable?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Explain.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14) Percent read: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13 of 22 chapters.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15) Quarters: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School year has 4 quarters.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What percent is 7 quarters?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16) Construct Arguments: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27% students, 94% staff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drive; ratio students:staff = 10:1.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Explain how students driving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could be greater in number.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ASSESS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Higher-Order Thinking 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87705" y="1847088"/>
            <a:ext cx="5742432" cy="44122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17) Bike &amp; helmet: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Sold for $114 and $18.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That is 120% of what was spent.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 a) How much was spent?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 b) How much profit?</a:t>
            </a:r>
          </a:p>
          <a:p>
            <a:pPr algn="l">
              <a:lnSpc>
                <a:spcPct val="120000"/>
              </a:lnSpc>
            </a:pPr>
            <a:endParaRPr sz="16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18) Nicole spent $30 last month.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This month she spent 140%.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Write an equation and find amount.</a:t>
            </a:r>
          </a:p>
          <a:p>
            <a:pPr algn="l">
              <a:lnSpc>
                <a:spcPct val="120000"/>
              </a:lnSpc>
            </a:pPr>
            <a:endParaRPr sz="16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19) Mr. Jones sells paddles for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180% of purchase price.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Part A: Find sales tax rate.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Part B: If cost is $35, how many</a:t>
            </a:r>
          </a:p>
          <a:p>
            <a:pPr algn="l">
              <a:lnSpc>
                <a:spcPct val="120000"/>
              </a:lnSpc>
            </a:pPr>
            <a:r>
              <a:rPr sz="1600" b="0" dirty="0">
                <a:solidFill>
                  <a:srgbClr val="0C2238"/>
                </a:solidFill>
              </a:rPr>
              <a:t>paddles to sell for at least $250?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8F5E9"/>
          </a:solidFill>
          <a:ln w="1524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Lesson 3-3  Represent and Use the Percent Equation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005840"/>
            <a:ext cx="7132320" cy="2834640"/>
          </a:xfrm>
          <a:prstGeom prst="roundRect">
            <a:avLst/>
          </a:prstGeom>
          <a:solidFill>
            <a:srgbClr val="F5FA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143000"/>
            <a:ext cx="6858000" cy="54864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1170432"/>
            <a:ext cx="6583680" cy="493776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4A3B00"/>
                </a:solidFill>
              </a:rPr>
              <a:t>Solve &amp; Discuss It!  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6766560" cy="18288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Fran is shopping for shoes.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Two pairs have good reviews.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Which pair should she buy?</a:t>
            </a:r>
          </a:p>
          <a:p>
            <a:pPr algn="l">
              <a:lnSpc>
                <a:spcPct val="118000"/>
              </a:lnSpc>
            </a:pPr>
            <a:endParaRPr sz="1500" b="0">
              <a:solidFill>
                <a:srgbClr val="0C2238"/>
              </a:solidFill>
            </a:endParaRP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☑️ Step 1: Make each percent.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☑️ Step 2: Compare.</a:t>
            </a:r>
          </a:p>
          <a:p>
            <a:pPr algn="l">
              <a:lnSpc>
                <a:spcPct val="118000"/>
              </a:lnSpc>
            </a:pPr>
            <a:r>
              <a:rPr sz="1500" b="0">
                <a:solidFill>
                  <a:srgbClr val="0C2238"/>
                </a:solidFill>
              </a:rPr>
              <a:t>💬 Explain your choice.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005840"/>
            <a:ext cx="4069080" cy="2834640"/>
          </a:xfrm>
          <a:prstGeom prst="roundRect">
            <a:avLst/>
          </a:prstGeom>
          <a:solidFill>
            <a:srgbClr val="E8F5E9"/>
          </a:solidFill>
          <a:ln w="2286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20" y="1234440"/>
            <a:ext cx="3703320" cy="24231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I can… ✅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represent and solve percent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problems using equations.</a:t>
            </a:r>
          </a:p>
          <a:p>
            <a:pPr algn="l">
              <a:lnSpc>
                <a:spcPct val="118000"/>
              </a:lnSpc>
            </a:pPr>
            <a:endParaRPr sz="16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🌟 Big idea: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D1B0D"/>
                </a:solidFill>
              </a:rPr>
              <a:t>part = percent × whole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80"/>
            <a:ext cx="114757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" y="4206240"/>
            <a:ext cx="11201400" cy="530352"/>
          </a:xfrm>
          <a:prstGeom prst="roundRect">
            <a:avLst/>
          </a:prstGeom>
          <a:solidFill>
            <a:srgbClr val="EEF6FF"/>
          </a:solidFill>
          <a:ln w="1270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4233672"/>
            <a:ext cx="10927080" cy="47548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C2238"/>
                </a:solidFill>
              </a:rPr>
              <a:t>Focus on Math Practices  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800600"/>
            <a:ext cx="10927080" cy="16916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Model with Math:</a:t>
            </a:r>
          </a:p>
          <a:p>
            <a:pPr algn="l">
              <a:lnSpc>
                <a:spcPct val="118000"/>
              </a:lnSpc>
            </a:pPr>
            <a:r>
              <a:rPr sz="1600" b="0">
                <a:solidFill>
                  <a:srgbClr val="0C2238"/>
                </a:solidFill>
              </a:rPr>
              <a:t>Describe another situation where ratios can help you make a decision.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Example 1  Find the Percent  📊  (Percent Equation)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Example 1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Maria is 60 inches tall.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Her vertical reach is 75 inches.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Question: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What percent of her total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reach is her height?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☑️ Use: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part = percent × whole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Try It! ✍️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49568" y="2027110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An elephant weighs 15,000 </a:t>
            </a:r>
            <a:r>
              <a:rPr sz="1800" b="0" dirty="0" err="1">
                <a:solidFill>
                  <a:srgbClr val="0C2238"/>
                </a:solidFill>
              </a:rPr>
              <a:t>lb</a:t>
            </a: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on Earth and 2,500 </a:t>
            </a:r>
            <a:r>
              <a:rPr sz="1800" b="0" dirty="0" err="1">
                <a:solidFill>
                  <a:srgbClr val="0C2238"/>
                </a:solidFill>
              </a:rPr>
              <a:t>lb</a:t>
            </a:r>
            <a:r>
              <a:rPr sz="1800" b="0" dirty="0">
                <a:solidFill>
                  <a:srgbClr val="0C2238"/>
                </a:solidFill>
              </a:rPr>
              <a:t> on Moon.</a:t>
            </a:r>
          </a:p>
          <a:p>
            <a:pPr algn="l">
              <a:lnSpc>
                <a:spcPct val="120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☑️ Write: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part / whole = p / 100</a:t>
            </a:r>
          </a:p>
          <a:p>
            <a:pPr algn="l">
              <a:lnSpc>
                <a:spcPct val="120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Find p.</a:t>
            </a:r>
          </a:p>
          <a:p>
            <a:pPr algn="l">
              <a:lnSpc>
                <a:spcPct val="120000"/>
              </a:lnSpc>
            </a:pPr>
            <a:endParaRPr sz="1800" b="0" dirty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Answer: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The elephant’s Moon weight</a:t>
            </a:r>
          </a:p>
          <a:p>
            <a:pPr algn="l">
              <a:lnSpc>
                <a:spcPct val="120000"/>
              </a:lnSpc>
            </a:pPr>
            <a:r>
              <a:rPr sz="1800" b="0" dirty="0">
                <a:solidFill>
                  <a:srgbClr val="0C2238"/>
                </a:solidFill>
              </a:rPr>
              <a:t>is about ____ % of Earth weight.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548640" y="228600"/>
            <a:ext cx="11109960" cy="566928"/>
          </a:xfrm>
          <a:prstGeom prst="roundRect">
            <a:avLst/>
          </a:prstGeom>
          <a:solidFill>
            <a:srgbClr val="EEF6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283464"/>
            <a:ext cx="8412480" cy="45720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C2238"/>
                </a:solidFill>
              </a:rPr>
              <a:t>Example 2–3  Use Percent Equation  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372600" y="320040"/>
            <a:ext cx="2148840" cy="384048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72600" y="320040"/>
            <a:ext cx="2148840" cy="384048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Page 157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868680"/>
            <a:ext cx="4526280" cy="5715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868680" y="1033272"/>
            <a:ext cx="4160520" cy="566928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41832" y="1069848"/>
            <a:ext cx="4014216" cy="493776"/>
          </a:xfrm>
          <a:prstGeom prst="rect">
            <a:avLst/>
          </a:prstGeom>
          <a:noFill/>
        </p:spPr>
        <p:txBody>
          <a:bodyPr wrap="square" lIns="27432" tIns="27432" rIns="27432" bIns="27432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B2B16"/>
                </a:solidFill>
              </a:rPr>
              <a:t>Example 2 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1691640"/>
            <a:ext cx="4123944" cy="469087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A room length is 4 m.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New length is 175%.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☑️ Write:</a:t>
            </a: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new = 1.75 × old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Find the new length.</a:t>
            </a:r>
          </a:p>
          <a:p>
            <a:pPr algn="l">
              <a:lnSpc>
                <a:spcPct val="118000"/>
              </a:lnSpc>
            </a:pPr>
            <a:endParaRPr sz="1400" b="0">
              <a:solidFill>
                <a:srgbClr val="0D1B0D"/>
              </a:solidFill>
            </a:endParaRPr>
          </a:p>
          <a:p>
            <a:pPr algn="l">
              <a:lnSpc>
                <a:spcPct val="118000"/>
              </a:lnSpc>
            </a:pPr>
            <a:r>
              <a:rPr sz="1400" b="0">
                <a:solidFill>
                  <a:srgbClr val="0D1B0D"/>
                </a:solidFill>
              </a:rPr>
              <a:t>Answer: ____ 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49240" y="868680"/>
            <a:ext cx="6839712" cy="5715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A1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696712" y="1106424"/>
            <a:ext cx="1783080" cy="502920"/>
          </a:xfrm>
          <a:prstGeom prst="roundRect">
            <a:avLst/>
          </a:prstGeom>
          <a:solidFill>
            <a:srgbClr val="FFF3C4"/>
          </a:solidFill>
          <a:ln w="15240">
            <a:solidFill>
              <a:srgbClr val="D6B6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696712" y="1106424"/>
            <a:ext cx="1783080" cy="502920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4A3B00"/>
                </a:solidFill>
              </a:rPr>
              <a:t>SOLVE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033272"/>
            <a:ext cx="4233672" cy="7132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11111"/>
                </a:solidFill>
              </a:rPr>
              <a:t>Example 3 ✅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3288" y="1828800"/>
            <a:ext cx="6071616" cy="4617720"/>
          </a:xfrm>
          <a:prstGeom prst="roundRect">
            <a:avLst/>
          </a:prstGeom>
          <a:solidFill>
            <a:srgbClr val="F5FAFF"/>
          </a:solidFill>
          <a:ln w="15240">
            <a:solidFill>
              <a:srgbClr val="C9D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97880" y="1975104"/>
            <a:ext cx="5742432" cy="43251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>
                <a:solidFill>
                  <a:srgbClr val="0C2238"/>
                </a:solidFill>
              </a:rPr>
              <a:t>Soy milk label: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0C2238"/>
                </a:solidFill>
              </a:rPr>
              <a:t>20% calcium = 260 mg</a:t>
            </a:r>
          </a:p>
          <a:p>
            <a:pPr algn="l">
              <a:lnSpc>
                <a:spcPct val="120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0C2238"/>
                </a:solidFill>
              </a:rPr>
              <a:t>☑️ Use proportion:</a:t>
            </a: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0C2238"/>
                </a:solidFill>
              </a:rPr>
              <a:t>260 / w = 20 / 100</a:t>
            </a:r>
          </a:p>
          <a:p>
            <a:pPr algn="l">
              <a:lnSpc>
                <a:spcPct val="120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0C2238"/>
                </a:solidFill>
              </a:rPr>
              <a:t>Find w.</a:t>
            </a:r>
          </a:p>
          <a:p>
            <a:pPr algn="l">
              <a:lnSpc>
                <a:spcPct val="120000"/>
              </a:lnSpc>
            </a:pPr>
            <a:endParaRPr sz="1800" b="0">
              <a:solidFill>
                <a:srgbClr val="0C2238"/>
              </a:solidFill>
            </a:endParaRPr>
          </a:p>
          <a:p>
            <a:pPr algn="l">
              <a:lnSpc>
                <a:spcPct val="120000"/>
              </a:lnSpc>
            </a:pPr>
            <a:r>
              <a:rPr sz="1800" b="0">
                <a:solidFill>
                  <a:srgbClr val="0C2238"/>
                </a:solidFill>
              </a:rPr>
              <a:t>Daily value = ____ mg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744</Words>
  <Application>Microsoft Office PowerPoint</Application>
  <PresentationFormat>Widescreen</PresentationFormat>
  <Paragraphs>167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Sagnik sen</cp:lastModifiedBy>
  <cp:revision>3</cp:revision>
  <dcterms:created xsi:type="dcterms:W3CDTF">2013-01-27T09:14:16Z</dcterms:created>
  <dcterms:modified xsi:type="dcterms:W3CDTF">2026-01-17T05:32:30Z</dcterms:modified>
  <cp:category/>
</cp:coreProperties>
</file>