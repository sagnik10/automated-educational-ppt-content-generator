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3" r:id="rId2"/>
    <p:sldId id="274" r:id="rId3"/>
    <p:sldId id="262" r:id="rId4"/>
    <p:sldId id="275" r:id="rId5"/>
    <p:sldId id="263" r:id="rId6"/>
    <p:sldId id="276" r:id="rId7"/>
    <p:sldId id="277" r:id="rId8"/>
    <p:sldId id="278" r:id="rId9"/>
    <p:sldId id="271" r:id="rId10"/>
    <p:sldId id="279" r:id="rId11"/>
    <p:sldId id="280" r:id="rId12"/>
    <p:sldId id="281" r:id="rId13"/>
    <p:sldId id="269" r:id="rId14"/>
    <p:sldId id="268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B4245-B0B2-4D86-BEFB-70975871854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C9333-2429-4E93-AE39-1ADF4A79F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0201F-706F-46DA-A1C8-B55A21C8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94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76B7-7D6F-ABEF-AEA5-0CD69DA3F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B1545-0706-9791-F99E-3C6EA948C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8595-61F4-127A-9B75-0AF0EA85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BF0B7-F1FB-D512-A8F1-8E4D6C6E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DF237-314A-5F9F-3B04-6109B7D5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D665-DC03-27D3-658E-A6A9D8C8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00D3C-AE1D-F83C-BBD2-B6CECCC7C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C6683-5299-D090-A963-BF7DCCCA9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DFCB3-2DE2-A344-8886-26859FF1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47332-3646-2F3D-F994-86176B57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8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D73D-0C1A-E242-96E6-29093086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908BB-D3EC-EFA8-1789-C32514801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5DED-E19D-2A1F-ECC5-AC24F928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3E003-4FBE-8C8F-4253-68AD03DC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FD3D0-2968-C4EA-B4BE-874A3FA7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0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8F0E-62E8-58A1-F90D-56774444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CFC43-40F0-746C-E34D-A0244355C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59E30-B632-D569-6794-9F95ED236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6EB2A-E5AE-7697-3687-52E2D88F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A6D5F-8B7D-FBF3-E2A9-F9FB0D5B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D501B-C59F-4A73-7CD5-A8B45CAC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8CE3-652A-2DE3-B1D1-5B130DE6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695FA-FBFF-E140-9D22-8277016FD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DE75F-5D41-F463-C97A-ABB67DE64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515CB-9727-F689-7FB9-4B8D72B3E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B1E14-E81C-9B53-0661-CC9D35692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D0389-4921-4912-2D12-B10B6FA4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98071-C3E4-867C-E381-152BFF6A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054F2-0A3D-043C-8D60-606F34DC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4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F8F3-166B-9C98-CA5E-75A7F660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6DDEE-05F9-D542-0239-F7D5E1B6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13D3F-7B5B-0B87-D333-41EF0E5D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6086F-571B-98F9-910F-2DC18A11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4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9AD98-8EEE-A995-35B2-CBE75750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86307-71F8-819F-AEA3-EFD0D1C2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8AD2B-9324-11D7-BF88-0604BDBD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2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C01C-AF15-9909-03D5-F5089923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8178B-800E-C073-D1EE-1105F4F81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0F9AC-36D8-DCBE-E111-CFC3BAD71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CB738-97D4-73E3-2EBC-60CFFB88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295A7-7513-5AC6-8924-8EBC3F27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D0BC4-7B0F-0452-2C82-8BD73298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2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BCBA-7785-ADEB-0A10-1CB8163C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365A88-4CAC-8A34-78B6-DD2902692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9FCA9-EAF2-BC1B-02B9-5D8AC7DF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06750-2116-65D4-3509-4A50CFDB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32C65-AC62-27B1-E8C7-657EBE78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EAAA1-1DC9-21B0-FB5E-688C12F8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5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31D3-A1F3-96C9-7AA7-22741955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C9876-E1ED-C88A-88EB-9C9D6598E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AC1E-52DD-D2CC-F96E-FBE57EBA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16DA-05FB-19D6-EFB2-733EE351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3E7C5-F9B7-1A72-7CD7-46162FEB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3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71024-BFB2-73F4-66A3-64EE4204B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807E7-5900-0778-72A3-8B3C44AEA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37DC3-4283-5B49-A47C-9CA30890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D9F7F-5C78-3B88-75B6-F0F0B68B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D9CD7-C3AB-CDFD-3972-547EEABE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1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A4F4D-D1D0-C39A-1E91-4FF47EAB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21057-31BF-4DAB-A377-A0F362C9E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98328-AE4D-4374-5ADF-9B396442E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EE478-FE9C-4E8F-B829-8623D679B04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A234B-35AB-2DDF-3D67-7ADC73AA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AEB1A-7F97-3BC5-8593-D08F502FE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90AF8-886E-4A3A-8AC4-49D726E41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5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ayground.com/admin/activity/classic/690062f2c1e6be244d219440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19EF3-797D-9C90-262E-95A764223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D74E-B39F-5778-448B-81F8383B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GRADE 7</a:t>
            </a:r>
          </a:p>
        </p:txBody>
      </p:sp>
      <p:pic>
        <p:nvPicPr>
          <p:cNvPr id="26" name="Picture 25" descr="Toy plastic numbers">
            <a:extLst>
              <a:ext uri="{FF2B5EF4-FFF2-40B4-BE49-F238E27FC236}">
                <a16:creationId xmlns:a16="http://schemas.microsoft.com/office/drawing/2014/main" id="{89B9761A-94BE-3557-355B-DB13A746F8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20" r="2337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1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A099-02C6-717A-6DC9-1E0B4066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015" y="92982"/>
            <a:ext cx="6575259" cy="1335589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Bell Ringer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C93EA-B917-CABC-92CF-67252D76C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29924" y="1629682"/>
                <a:ext cx="9063361" cy="4351338"/>
              </a:xfrm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/>
              <a:p>
                <a:pPr marL="514350" indent="-514350">
                  <a:buAutoNum type="arabicPeriod"/>
                </a:pPr>
                <a:r>
                  <a:rPr lang="en-US" dirty="0">
                    <a:ea typeface="+mn-lt"/>
                    <a:cs typeface="+mn-lt"/>
                  </a:rPr>
                  <a:t>Take out your books, device and stationery</a:t>
                </a: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Write the Lesson Objective in your books: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Do the following activity: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r>
                  <a:rPr lang="en-US" dirty="0">
                    <a:highlight>
                      <a:srgbClr val="FFFF00"/>
                    </a:highlight>
                  </a:rPr>
                  <a:t>Sara bought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kg of dates for AED 12. How much does 1 kg cost?”</a:t>
                </a:r>
              </a:p>
              <a:p>
                <a:r>
                  <a:rPr lang="en-US" dirty="0">
                    <a:highlight>
                      <a:srgbClr val="FFFF00"/>
                    </a:highlight>
                  </a:rPr>
                  <a:t>Work individually for </a:t>
                </a:r>
                <a:r>
                  <a:rPr lang="en-US" b="1" dirty="0">
                    <a:highlight>
                      <a:srgbClr val="FFFF00"/>
                    </a:highlight>
                  </a:rPr>
                  <a:t>2–3 minutes</a:t>
                </a:r>
                <a:r>
                  <a:rPr lang="en-US" dirty="0">
                    <a:highlight>
                      <a:srgbClr val="FFFF00"/>
                    </a:highlight>
                  </a:rPr>
                  <a:t> to calculate the unit rate.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sz="1900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C93EA-B917-CABC-92CF-67252D76C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9924" y="1629682"/>
                <a:ext cx="9063361" cy="4351338"/>
              </a:xfrm>
              <a:blipFill>
                <a:blip r:embed="rId3"/>
                <a:stretch>
                  <a:fillRect l="-1210" t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5779839-D6F0-DE47-7917-1970E193C0FE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110269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BB80-12F0-1A42-7BB2-634CA36E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87D9B6-A9D7-C495-E19A-094B32B14764}"/>
              </a:ext>
            </a:extLst>
          </p:cNvPr>
          <p:cNvSpPr/>
          <p:nvPr/>
        </p:nvSpPr>
        <p:spPr>
          <a:xfrm>
            <a:off x="163286" y="1785257"/>
            <a:ext cx="2122714" cy="3951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652DF-8848-2AAE-4182-DE94E6A0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831" y="87087"/>
            <a:ext cx="6705601" cy="1613628"/>
          </a:xfrm>
          <a:ln>
            <a:solidFill>
              <a:schemeClr val="bg2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Learning Objective: </a:t>
            </a:r>
            <a:br>
              <a:rPr lang="en-US" sz="3200" b="1" dirty="0"/>
            </a:br>
            <a:r>
              <a:rPr lang="en-US" sz="3200" dirty="0"/>
              <a:t>Calculate unit rates involving fraction and apply it to real-life situations.</a:t>
            </a:r>
            <a:br>
              <a:rPr lang="en-US" sz="3200" dirty="0"/>
            </a:br>
            <a:endParaRPr lang="en-US" sz="3200" dirty="0">
              <a:solidFill>
                <a:schemeClr val="tx2">
                  <a:lumMod val="75000"/>
                  <a:lumOff val="25000"/>
                </a:schemeClr>
              </a:solidFill>
              <a:highlight>
                <a:srgbClr val="FF00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D7EA-B9AE-1F77-9299-DE7788F1F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3820" y="1700714"/>
            <a:ext cx="7802869" cy="4351338"/>
          </a:xfrm>
          <a:ln>
            <a:solidFill>
              <a:schemeClr val="bg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Success Criteria (SC):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dirty="0"/>
              <a:t>Aspire: 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Can calculate division of whole number by a fraction.</a:t>
            </a:r>
          </a:p>
          <a:p>
            <a:r>
              <a:rPr lang="en-US" dirty="0"/>
              <a:t>Grow: 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Calculates unit rates with fractions and decimals correctly.</a:t>
            </a:r>
          </a:p>
          <a:p>
            <a:r>
              <a:rPr lang="en-US" dirty="0"/>
              <a:t>Succeed:</a:t>
            </a:r>
            <a:r>
              <a:rPr lang="en-US" i="1" dirty="0"/>
              <a:t> 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Applies unit rates confidently to UAE-context scenarios and clearly explains reasoning using fractions and proportional thinking.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0B6C8-27A3-7B3C-2D05-E37A90BBE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06689" y="1700714"/>
            <a:ext cx="2785311" cy="4351338"/>
          </a:xfrm>
          <a:ln>
            <a:solidFill>
              <a:schemeClr val="bg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ATL Skill:</a:t>
            </a:r>
          </a:p>
          <a:p>
            <a:pPr marL="0" indent="0">
              <a:buNone/>
            </a:pPr>
            <a:r>
              <a:rPr lang="en-US" sz="1600" dirty="0"/>
              <a:t>Thinking, Communication, Self-Management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IB Learner Profile:</a:t>
            </a:r>
          </a:p>
          <a:p>
            <a:pPr marL="0" indent="0">
              <a:buNone/>
            </a:pPr>
            <a:r>
              <a:rPr lang="en-US" sz="1600" dirty="0"/>
              <a:t>Thinker, Inquirer, Reflective, Communicator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UAE Links: </a:t>
            </a:r>
          </a:p>
          <a:p>
            <a:pPr marL="0" indent="0">
              <a:buNone/>
            </a:pPr>
            <a:r>
              <a:rPr lang="en-US" sz="1600" dirty="0"/>
              <a:t>Relate inequalities to real-life limits — speed limits, budgets, and fair rules in UAE society.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8C633-EBD0-5D6E-954F-29A1D7625E45}"/>
              </a:ext>
            </a:extLst>
          </p:cNvPr>
          <p:cNvSpPr/>
          <p:nvPr/>
        </p:nvSpPr>
        <p:spPr>
          <a:xfrm>
            <a:off x="859971" y="5736771"/>
            <a:ext cx="1317172" cy="468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4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A38D-127F-37E3-ADC7-77727256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03DC-B6D5-BF20-E771-108F47F2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015" y="365125"/>
            <a:ext cx="6575259" cy="133558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Vocabulary </a:t>
            </a:r>
            <a:r>
              <a:rPr lang="en-US" b="1" dirty="0"/>
              <a:t> 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7CBD5-5266-3250-27CE-0BB66701A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7514" y="1700714"/>
            <a:ext cx="7663543" cy="4351338"/>
          </a:xfrm>
          <a:prstGeom prst="roundRect">
            <a:avLst/>
          </a:prstGeom>
          <a:solidFill>
            <a:schemeClr val="bg1"/>
          </a:solidFill>
          <a:ln>
            <a:solidFill>
              <a:srgbClr val="A9142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Vocabulary: </a:t>
            </a:r>
          </a:p>
          <a:p>
            <a:pPr algn="l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Ratio</a:t>
            </a:r>
          </a:p>
          <a:p>
            <a:pPr algn="l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Unit Rate</a:t>
            </a:r>
          </a:p>
          <a:p>
            <a:pPr algn="l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Fraction</a:t>
            </a:r>
          </a:p>
          <a:p>
            <a:pPr algn="l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Proportional Relationship</a:t>
            </a:r>
          </a:p>
          <a:p>
            <a:pPr algn="l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Numerator / Denominator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C2ED0-F1AD-88CF-C21E-03EFA776E471}"/>
              </a:ext>
            </a:extLst>
          </p:cNvPr>
          <p:cNvSpPr/>
          <p:nvPr/>
        </p:nvSpPr>
        <p:spPr>
          <a:xfrm>
            <a:off x="185057" y="1700714"/>
            <a:ext cx="1937657" cy="46971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14490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37E1-F7FC-4711-66F9-72285354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6713-808B-E77B-D786-C4920964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015" y="365125"/>
            <a:ext cx="6575259" cy="133558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Engage: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9A1A-9695-EEA2-79FB-702E1CDD16C3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436E7D-A42F-8881-3A8F-A2FFCEAD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74" b="47460"/>
          <a:stretch>
            <a:fillRect/>
          </a:stretch>
        </p:blipFill>
        <p:spPr>
          <a:xfrm>
            <a:off x="4419600" y="1417525"/>
            <a:ext cx="4044380" cy="238811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030AD9-2307-ACC1-C072-BE5DA6B6B4BA}"/>
              </a:ext>
            </a:extLst>
          </p:cNvPr>
          <p:cNvSpPr/>
          <p:nvPr/>
        </p:nvSpPr>
        <p:spPr>
          <a:xfrm>
            <a:off x="4114800" y="3940629"/>
            <a:ext cx="772886" cy="620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F9782C-64A5-5E76-F289-D9E2E7DA75DF}"/>
                  </a:ext>
                </a:extLst>
              </p:cNvPr>
              <p:cNvSpPr txBox="1"/>
              <p:nvPr/>
            </p:nvSpPr>
            <p:spPr>
              <a:xfrm>
                <a:off x="4201886" y="3603171"/>
                <a:ext cx="5791200" cy="2272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𝐵𝑂𝑇𝑇𝐿𝐸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𝑀𝐼𝐿𝐾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𝐶𝐴𝑁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𝐹𝐼𝐿𝐿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𝑆𝑇𝑅𝐴𝑊𝐵𝐸𝑅𝑅𝑌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𝐶𝑈𝑃𝑆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𝐵𝑂𝑇𝑇𝐿𝐸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𝑀𝐼𝐿𝐾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𝐶𝐴𝑁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𝐹𝐼𝐿𝐿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………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𝑆𝑇𝑅𝐴𝑊𝐵𝐸𝑅𝑅𝑌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𝐶𝑈𝑃𝑆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𝐵𝑂𝑇𝑇𝐿𝐸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𝑂𝐹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𝑀𝐼𝐿𝐾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𝐶𝐴𝑁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𝐹𝐼𝐿𝐿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………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𝑆𝑇𝑅𝐴𝑊𝐵𝐸𝑅𝑅𝑌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𝐶𝑈𝑃𝑆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F9782C-64A5-5E76-F289-D9E2E7DA7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886" y="3603171"/>
                <a:ext cx="5791200" cy="2272930"/>
              </a:xfrm>
              <a:prstGeom prst="rect">
                <a:avLst/>
              </a:prstGeom>
              <a:blipFill>
                <a:blip r:embed="rId3"/>
                <a:stretch>
                  <a:fillRect r="-5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DFE1FA4-BD96-873D-6B34-A7372B699C0B}"/>
              </a:ext>
            </a:extLst>
          </p:cNvPr>
          <p:cNvSpPr txBox="1"/>
          <p:nvPr/>
        </p:nvSpPr>
        <p:spPr>
          <a:xfrm>
            <a:off x="6880447" y="802086"/>
            <a:ext cx="3167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n w="0"/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Pre-assessment</a:t>
            </a:r>
            <a:endParaRPr lang="en-US" sz="1400" b="1" dirty="0">
              <a:ln w="0"/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9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FCD3-2AC6-7B7A-7546-8AD86FB4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5A08-146F-9E41-D231-6BFBF0BC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091" y="533647"/>
            <a:ext cx="6575259" cy="1335589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Explain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  <a:latin typeface="Cavolini" panose="03000502040302020204" pitchFamily="66" charset="0"/>
                <a:ea typeface="Cambria Math" panose="02040503050406030204" pitchFamily="18" charset="0"/>
                <a:cs typeface="Cavolini" panose="03000502040302020204" pitchFamily="66" charset="0"/>
              </a:rPr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FB8A2-3AD0-58C0-9241-F2A222CD3997}"/>
                  </a:ext>
                </a:extLst>
              </p:cNvPr>
              <p:cNvSpPr txBox="1"/>
              <p:nvPr/>
            </p:nvSpPr>
            <p:spPr>
              <a:xfrm>
                <a:off x="2463256" y="1826402"/>
                <a:ext cx="6096000" cy="760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highlight>
                      <a:srgbClr val="00FF00"/>
                    </a:highlight>
                  </a:rPr>
                  <a:t>Example Question</a:t>
                </a:r>
              </a:p>
              <a:p>
                <a:pPr>
                  <a:buNone/>
                </a:pPr>
                <a:r>
                  <a:rPr lang="en-US" dirty="0"/>
                  <a:t>A bakery makes </a:t>
                </a:r>
                <a:r>
                  <a:rPr lang="en-US" b="1" dirty="0"/>
                  <a:t>4 cakes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1" dirty="0"/>
                  <a:t>hour.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FB8A2-3AD0-58C0-9241-F2A222CD3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256" y="1826402"/>
                <a:ext cx="6096000" cy="760465"/>
              </a:xfrm>
              <a:prstGeom prst="rect">
                <a:avLst/>
              </a:prstGeom>
              <a:blipFill>
                <a:blip r:embed="rId2"/>
                <a:stretch>
                  <a:fillRect l="-800" t="-403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1EA02D8A-666B-6848-C059-128659830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636" b="62181"/>
          <a:stretch>
            <a:fillRect/>
          </a:stretch>
        </p:blipFill>
        <p:spPr>
          <a:xfrm>
            <a:off x="2441484" y="2564543"/>
            <a:ext cx="3704946" cy="14194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CB1C9D-5D12-F14F-A010-7774F147A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7" t="62531" r="67168" b="15917"/>
          <a:stretch>
            <a:fillRect/>
          </a:stretch>
        </p:blipFill>
        <p:spPr>
          <a:xfrm>
            <a:off x="2481784" y="4939714"/>
            <a:ext cx="1818073" cy="8089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B8D231-43DA-F6CB-AE5B-431FEA1E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95" r="66324" b="42752"/>
          <a:stretch>
            <a:fillRect/>
          </a:stretch>
        </p:blipFill>
        <p:spPr>
          <a:xfrm>
            <a:off x="2391054" y="3765488"/>
            <a:ext cx="1908803" cy="8089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2FFDA3-834D-722D-9FA1-B3BABFB03C2C}"/>
              </a:ext>
            </a:extLst>
          </p:cNvPr>
          <p:cNvSpPr txBox="1"/>
          <p:nvPr/>
        </p:nvSpPr>
        <p:spPr>
          <a:xfrm>
            <a:off x="8479971" y="1981200"/>
            <a:ext cx="32874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Why do you think it is more for 1 hour?</a:t>
            </a:r>
            <a:r>
              <a:rPr lang="en-US" b="1" dirty="0"/>
              <a:t>            </a:t>
            </a:r>
          </a:p>
          <a:p>
            <a:endParaRPr lang="en-US" b="1" dirty="0"/>
          </a:p>
          <a:p>
            <a:endParaRPr lang="en-US" b="1" dirty="0">
              <a:highlight>
                <a:srgbClr val="FF00FF"/>
              </a:highlight>
            </a:endParaRPr>
          </a:p>
          <a:p>
            <a:r>
              <a:rPr lang="en-US" b="1" dirty="0">
                <a:highlight>
                  <a:srgbClr val="FF00FF"/>
                </a:highlight>
              </a:rPr>
              <a:t>Draw a diagram and show it</a:t>
            </a:r>
            <a:r>
              <a:rPr lang="en-US" b="1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B1639-C868-C91F-406A-8055AEC800C4}"/>
              </a:ext>
            </a:extLst>
          </p:cNvPr>
          <p:cNvSpPr/>
          <p:nvPr/>
        </p:nvSpPr>
        <p:spPr>
          <a:xfrm>
            <a:off x="8273143" y="1826402"/>
            <a:ext cx="3494314" cy="1939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ABBD8A-56AB-A911-8628-665971CA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59" t="11359" b="62181"/>
          <a:stretch>
            <a:fillRect/>
          </a:stretch>
        </p:blipFill>
        <p:spPr>
          <a:xfrm>
            <a:off x="4343695" y="2649704"/>
            <a:ext cx="1408049" cy="9931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749924-6E59-764B-9F7A-31239956A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477" t="53187" b="31314"/>
          <a:stretch>
            <a:fillRect/>
          </a:stretch>
        </p:blipFill>
        <p:spPr>
          <a:xfrm>
            <a:off x="4038599" y="3961706"/>
            <a:ext cx="1843477" cy="5817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745A0E-753C-931F-CE33-C78935D766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34" t="83477" r="-757" b="-3907"/>
          <a:stretch>
            <a:fillRect/>
          </a:stretch>
        </p:blipFill>
        <p:spPr>
          <a:xfrm>
            <a:off x="4216687" y="5184975"/>
            <a:ext cx="1662064" cy="7668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418BD-9163-AB50-51E4-25FD0E956DA9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388101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6EF75-863E-9EE8-FC99-45717ED0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CAF0-7CF6-F077-EA49-D8D53AC9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FAAE0B-71AC-CCBB-9BEF-541BBB5EE212}"/>
              </a:ext>
            </a:extLst>
          </p:cNvPr>
          <p:cNvSpPr/>
          <p:nvPr/>
        </p:nvSpPr>
        <p:spPr>
          <a:xfrm>
            <a:off x="6344431" y="1385254"/>
            <a:ext cx="5193764" cy="2840417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107A80-42D7-E9F1-D53E-DE77967219B3}"/>
              </a:ext>
            </a:extLst>
          </p:cNvPr>
          <p:cNvSpPr/>
          <p:nvPr/>
        </p:nvSpPr>
        <p:spPr>
          <a:xfrm>
            <a:off x="2157597" y="1630804"/>
            <a:ext cx="4128321" cy="2556643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B2ED6-2907-B08F-A228-D817905F0714}"/>
              </a:ext>
            </a:extLst>
          </p:cNvPr>
          <p:cNvSpPr/>
          <p:nvPr/>
        </p:nvSpPr>
        <p:spPr>
          <a:xfrm>
            <a:off x="7212515" y="1694163"/>
            <a:ext cx="1735541" cy="346249"/>
          </a:xfrm>
          <a:custGeom>
            <a:avLst/>
            <a:gdLst>
              <a:gd name="csX0" fmla="*/ 0 w 1735541"/>
              <a:gd name="csY0" fmla="*/ 0 h 346249"/>
              <a:gd name="csX1" fmla="*/ 1735541 w 1735541"/>
              <a:gd name="csY1" fmla="*/ 0 h 346249"/>
              <a:gd name="csX2" fmla="*/ 1735541 w 1735541"/>
              <a:gd name="csY2" fmla="*/ 346249 h 346249"/>
              <a:gd name="csX3" fmla="*/ 0 w 1735541"/>
              <a:gd name="csY3" fmla="*/ 346249 h 346249"/>
              <a:gd name="csX4" fmla="*/ 0 w 1735541"/>
              <a:gd name="csY4" fmla="*/ 0 h 34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5541" h="346249" fill="none" extrusionOk="0">
                <a:moveTo>
                  <a:pt x="0" y="0"/>
                </a:moveTo>
                <a:cubicBezTo>
                  <a:pt x="768857" y="110683"/>
                  <a:pt x="955635" y="62640"/>
                  <a:pt x="1735541" y="0"/>
                </a:cubicBezTo>
                <a:cubicBezTo>
                  <a:pt x="1720356" y="164193"/>
                  <a:pt x="1714477" y="293019"/>
                  <a:pt x="1735541" y="346249"/>
                </a:cubicBezTo>
                <a:cubicBezTo>
                  <a:pt x="1126299" y="313455"/>
                  <a:pt x="364653" y="497859"/>
                  <a:pt x="0" y="346249"/>
                </a:cubicBezTo>
                <a:cubicBezTo>
                  <a:pt x="-9806" y="204761"/>
                  <a:pt x="13501" y="146378"/>
                  <a:pt x="0" y="0"/>
                </a:cubicBezTo>
                <a:close/>
              </a:path>
              <a:path w="1735541" h="346249" stroke="0" extrusionOk="0">
                <a:moveTo>
                  <a:pt x="0" y="0"/>
                </a:moveTo>
                <a:cubicBezTo>
                  <a:pt x="363782" y="125630"/>
                  <a:pt x="1250190" y="-95989"/>
                  <a:pt x="1735541" y="0"/>
                </a:cubicBezTo>
                <a:cubicBezTo>
                  <a:pt x="1718333" y="88266"/>
                  <a:pt x="1716921" y="256163"/>
                  <a:pt x="1735541" y="346249"/>
                </a:cubicBezTo>
                <a:cubicBezTo>
                  <a:pt x="1284568" y="347679"/>
                  <a:pt x="685338" y="398581"/>
                  <a:pt x="0" y="346249"/>
                </a:cubicBezTo>
                <a:cubicBezTo>
                  <a:pt x="-29868" y="191301"/>
                  <a:pt x="262" y="82956"/>
                  <a:pt x="0" y="0"/>
                </a:cubicBezTo>
                <a:close/>
              </a:path>
            </a:pathLst>
          </a:custGeom>
          <a:solidFill>
            <a:srgbClr val="92D050"/>
          </a:solidFill>
          <a:ln w="28575">
            <a:solidFill>
              <a:srgbClr val="074F77"/>
            </a:solidFill>
            <a:extLst>
              <a:ext uri="{C807C97D-BFC1-408E-A445-0C87EB9F89A2}">
                <ask:lineSketchStyleProps xmlns:ask="http://schemas.microsoft.com/office/drawing/2018/sketchyshapes" sd="149920681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Applying skills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145D01-E17D-594B-94E6-F2ECCD6101AB}"/>
              </a:ext>
            </a:extLst>
          </p:cNvPr>
          <p:cNvSpPr/>
          <p:nvPr/>
        </p:nvSpPr>
        <p:spPr>
          <a:xfrm>
            <a:off x="6511311" y="4254599"/>
            <a:ext cx="4646546" cy="2057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>
              <a:latin typeface="Century Gothic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57F305-77AA-8B1E-9A23-968380DC37DB}"/>
              </a:ext>
            </a:extLst>
          </p:cNvPr>
          <p:cNvSpPr/>
          <p:nvPr/>
        </p:nvSpPr>
        <p:spPr>
          <a:xfrm>
            <a:off x="2174300" y="4004948"/>
            <a:ext cx="4203710" cy="2487927"/>
          </a:xfrm>
          <a:prstGeom prst="roundRect">
            <a:avLst>
              <a:gd name="adj" fmla="val 0"/>
            </a:avLst>
          </a:prstGeom>
          <a:ln>
            <a:solidFill>
              <a:srgbClr val="FF373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05AD9-3A67-AAA8-6757-FBB4AEEC139C}"/>
              </a:ext>
            </a:extLst>
          </p:cNvPr>
          <p:cNvSpPr txBox="1"/>
          <p:nvPr/>
        </p:nvSpPr>
        <p:spPr>
          <a:xfrm>
            <a:off x="5355683" y="4080559"/>
            <a:ext cx="1542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Page:27</a:t>
            </a:r>
            <a:endParaRPr lang="en-US" dirty="0"/>
          </a:p>
        </p:txBody>
      </p:sp>
      <p:pic>
        <p:nvPicPr>
          <p:cNvPr id="20" name="Picture 19" descr="A yellow and white rectangular sign with a number one&#10;&#10;Description automatically generated">
            <a:extLst>
              <a:ext uri="{FF2B5EF4-FFF2-40B4-BE49-F238E27FC236}">
                <a16:creationId xmlns:a16="http://schemas.microsoft.com/office/drawing/2014/main" id="{08267A44-35F5-A297-E314-B8897756D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399" y="1714044"/>
            <a:ext cx="467983" cy="672847"/>
          </a:xfrm>
          <a:prstGeom prst="rect">
            <a:avLst/>
          </a:prstGeom>
        </p:spPr>
      </p:pic>
      <p:pic>
        <p:nvPicPr>
          <p:cNvPr id="21" name="Picture 20" descr="A green and white rectangular sign with a number&#10;&#10;Description automatically generated">
            <a:extLst>
              <a:ext uri="{FF2B5EF4-FFF2-40B4-BE49-F238E27FC236}">
                <a16:creationId xmlns:a16="http://schemas.microsoft.com/office/drawing/2014/main" id="{2B6392F0-9258-60BB-4FA7-4A49DEBE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457" y="1652450"/>
            <a:ext cx="467984" cy="685801"/>
          </a:xfrm>
          <a:prstGeom prst="rect">
            <a:avLst/>
          </a:prstGeom>
        </p:spPr>
      </p:pic>
      <p:pic>
        <p:nvPicPr>
          <p:cNvPr id="22" name="Picture 21" descr="A red and white card with a number&#10;&#10;Description automatically generated">
            <a:extLst>
              <a:ext uri="{FF2B5EF4-FFF2-40B4-BE49-F238E27FC236}">
                <a16:creationId xmlns:a16="http://schemas.microsoft.com/office/drawing/2014/main" id="{966BC42E-6713-6BC7-1DA7-8A1AF44B0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399" y="4076092"/>
            <a:ext cx="502941" cy="6556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77C709-3C0B-873F-93C7-0BD71228399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56" t="19262" r="72041" b="2116"/>
          <a:stretch/>
        </p:blipFill>
        <p:spPr>
          <a:xfrm>
            <a:off x="6640660" y="2400833"/>
            <a:ext cx="257442" cy="1367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00E158-0B20-8C14-CCBC-5DE940EDB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182" y="4543066"/>
            <a:ext cx="1010517" cy="4132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B8A0C8A-FFCA-07BB-3855-5ED60120B7E5}"/>
              </a:ext>
            </a:extLst>
          </p:cNvPr>
          <p:cNvSpPr txBox="1"/>
          <p:nvPr/>
        </p:nvSpPr>
        <p:spPr>
          <a:xfrm>
            <a:off x="4389727" y="1679984"/>
            <a:ext cx="1701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Page: 27 / 28 </a:t>
            </a:r>
            <a:endParaRPr lang="en-US" sz="1600" dirty="0"/>
          </a:p>
        </p:txBody>
      </p:sp>
      <p:pic>
        <p:nvPicPr>
          <p:cNvPr id="38" name="Picture 37" descr="Count-down Timers |">
            <a:extLst>
              <a:ext uri="{FF2B5EF4-FFF2-40B4-BE49-F238E27FC236}">
                <a16:creationId xmlns:a16="http://schemas.microsoft.com/office/drawing/2014/main" id="{FA8EC61A-6D18-C2A9-EFFE-4A3E2DB0E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3" t="16445" r="14683" b="21947"/>
          <a:stretch/>
        </p:blipFill>
        <p:spPr bwMode="auto">
          <a:xfrm>
            <a:off x="5738687" y="6477706"/>
            <a:ext cx="1227584" cy="43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37ED10-923E-030D-4672-CB019D4EA3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9457" y="4233431"/>
            <a:ext cx="4353122" cy="19988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1E1838-EBF2-3440-09E3-9DD9A7F68192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44FE8-298E-DE90-7ACF-B798C75E4F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8872" y="1679984"/>
            <a:ext cx="3666727" cy="2069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CA131C-B934-F6F2-A116-FF5E4F3775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1311" y="1469965"/>
            <a:ext cx="4296145" cy="2558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CCDC64-22A9-612E-8820-D306617FEE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2972" y="4076092"/>
            <a:ext cx="3701015" cy="232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3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2296-F1E1-EA52-5272-1738973D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306E-235B-86E5-E1FC-EFCB38F9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4DC407-37F2-0925-E259-9CFD5FFD153A}"/>
              </a:ext>
            </a:extLst>
          </p:cNvPr>
          <p:cNvSpPr/>
          <p:nvPr/>
        </p:nvSpPr>
        <p:spPr>
          <a:xfrm>
            <a:off x="2221677" y="1630804"/>
            <a:ext cx="7869379" cy="4846901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03C8C-8A2C-9120-3471-E14880E44BBD}"/>
              </a:ext>
            </a:extLst>
          </p:cNvPr>
          <p:cNvSpPr/>
          <p:nvPr/>
        </p:nvSpPr>
        <p:spPr>
          <a:xfrm>
            <a:off x="2941467" y="1678763"/>
            <a:ext cx="1481879" cy="346249"/>
          </a:xfrm>
          <a:custGeom>
            <a:avLst/>
            <a:gdLst>
              <a:gd name="csX0" fmla="*/ 0 w 1481879"/>
              <a:gd name="csY0" fmla="*/ 0 h 346249"/>
              <a:gd name="csX1" fmla="*/ 523597 w 1481879"/>
              <a:gd name="csY1" fmla="*/ 0 h 346249"/>
              <a:gd name="csX2" fmla="*/ 1047194 w 1481879"/>
              <a:gd name="csY2" fmla="*/ 0 h 346249"/>
              <a:gd name="csX3" fmla="*/ 1481879 w 1481879"/>
              <a:gd name="csY3" fmla="*/ 0 h 346249"/>
              <a:gd name="csX4" fmla="*/ 1481879 w 1481879"/>
              <a:gd name="csY4" fmla="*/ 346249 h 346249"/>
              <a:gd name="csX5" fmla="*/ 1002738 w 1481879"/>
              <a:gd name="csY5" fmla="*/ 346249 h 346249"/>
              <a:gd name="csX6" fmla="*/ 493960 w 1481879"/>
              <a:gd name="csY6" fmla="*/ 346249 h 346249"/>
              <a:gd name="csX7" fmla="*/ 0 w 1481879"/>
              <a:gd name="csY7" fmla="*/ 346249 h 346249"/>
              <a:gd name="csX8" fmla="*/ 0 w 1481879"/>
              <a:gd name="csY8" fmla="*/ 0 h 34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1879" h="346249" fill="none" extrusionOk="0">
                <a:moveTo>
                  <a:pt x="0" y="0"/>
                </a:moveTo>
                <a:cubicBezTo>
                  <a:pt x="117193" y="-16612"/>
                  <a:pt x="372044" y="-19979"/>
                  <a:pt x="523597" y="0"/>
                </a:cubicBezTo>
                <a:cubicBezTo>
                  <a:pt x="675150" y="19979"/>
                  <a:pt x="785726" y="7915"/>
                  <a:pt x="1047194" y="0"/>
                </a:cubicBezTo>
                <a:cubicBezTo>
                  <a:pt x="1308662" y="-7915"/>
                  <a:pt x="1321074" y="7481"/>
                  <a:pt x="1481879" y="0"/>
                </a:cubicBezTo>
                <a:cubicBezTo>
                  <a:pt x="1471588" y="146021"/>
                  <a:pt x="1483350" y="191494"/>
                  <a:pt x="1481879" y="346249"/>
                </a:cubicBezTo>
                <a:cubicBezTo>
                  <a:pt x="1306253" y="330560"/>
                  <a:pt x="1150803" y="350475"/>
                  <a:pt x="1002738" y="346249"/>
                </a:cubicBezTo>
                <a:cubicBezTo>
                  <a:pt x="854673" y="342023"/>
                  <a:pt x="712917" y="354185"/>
                  <a:pt x="493960" y="346249"/>
                </a:cubicBezTo>
                <a:cubicBezTo>
                  <a:pt x="275003" y="338313"/>
                  <a:pt x="153702" y="362999"/>
                  <a:pt x="0" y="346249"/>
                </a:cubicBezTo>
                <a:cubicBezTo>
                  <a:pt x="-3040" y="264163"/>
                  <a:pt x="-9899" y="100471"/>
                  <a:pt x="0" y="0"/>
                </a:cubicBezTo>
                <a:close/>
              </a:path>
              <a:path w="1481879" h="346249" stroke="0" extrusionOk="0">
                <a:moveTo>
                  <a:pt x="0" y="0"/>
                </a:moveTo>
                <a:cubicBezTo>
                  <a:pt x="95105" y="-12295"/>
                  <a:pt x="351243" y="17772"/>
                  <a:pt x="449503" y="0"/>
                </a:cubicBezTo>
                <a:cubicBezTo>
                  <a:pt x="547763" y="-17772"/>
                  <a:pt x="767114" y="-20216"/>
                  <a:pt x="928644" y="0"/>
                </a:cubicBezTo>
                <a:cubicBezTo>
                  <a:pt x="1090174" y="20216"/>
                  <a:pt x="1222939" y="8192"/>
                  <a:pt x="1481879" y="0"/>
                </a:cubicBezTo>
                <a:cubicBezTo>
                  <a:pt x="1477563" y="160793"/>
                  <a:pt x="1492698" y="232011"/>
                  <a:pt x="1481879" y="346249"/>
                </a:cubicBezTo>
                <a:cubicBezTo>
                  <a:pt x="1323200" y="347345"/>
                  <a:pt x="1226662" y="324032"/>
                  <a:pt x="1032376" y="346249"/>
                </a:cubicBezTo>
                <a:cubicBezTo>
                  <a:pt x="838090" y="368466"/>
                  <a:pt x="736288" y="367050"/>
                  <a:pt x="508778" y="346249"/>
                </a:cubicBezTo>
                <a:cubicBezTo>
                  <a:pt x="281268" y="325448"/>
                  <a:pt x="195462" y="355216"/>
                  <a:pt x="0" y="346249"/>
                </a:cubicBezTo>
                <a:cubicBezTo>
                  <a:pt x="15538" y="178207"/>
                  <a:pt x="16402" y="88290"/>
                  <a:pt x="0" y="0"/>
                </a:cubicBezTo>
                <a:close/>
              </a:path>
            </a:pathLst>
          </a:custGeom>
          <a:solidFill>
            <a:srgbClr val="FFFAEB"/>
          </a:solidFill>
          <a:ln>
            <a:extLst>
              <a:ext uri="{C807C97D-BFC1-408E-A445-0C87EB9F89A2}">
                <ask:lineSketchStyleProps xmlns:ask="http://schemas.microsoft.com/office/drawing/2018/sketchyshapes" sd="39462934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Knowledge</a:t>
            </a:r>
          </a:p>
        </p:txBody>
      </p:sp>
      <p:pic>
        <p:nvPicPr>
          <p:cNvPr id="20" name="Picture 19" descr="A yellow and white rectangular sign with a number one&#10;&#10;Description automatically generated">
            <a:extLst>
              <a:ext uri="{FF2B5EF4-FFF2-40B4-BE49-F238E27FC236}">
                <a16:creationId xmlns:a16="http://schemas.microsoft.com/office/drawing/2014/main" id="{E2D375A0-DBB2-456C-055C-E5F045568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399" y="1714044"/>
            <a:ext cx="467983" cy="6728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EBC4B0-2D84-1179-CEFC-8084AA54B28E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8D436-6FAB-DD99-456F-C6E2D23B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78" y="1676155"/>
            <a:ext cx="7503854" cy="423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2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96DD-1A8C-D15A-4D41-4A6C15F5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635A-9FA3-41B3-D18E-7E84B8B9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FF2DD8-3E2A-2F0F-B79F-4E685EDD10C8}"/>
              </a:ext>
            </a:extLst>
          </p:cNvPr>
          <p:cNvSpPr/>
          <p:nvPr/>
        </p:nvSpPr>
        <p:spPr>
          <a:xfrm>
            <a:off x="2941467" y="1441038"/>
            <a:ext cx="8455876" cy="495681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30A35-1FD3-A8BE-194A-07D310281A5E}"/>
              </a:ext>
            </a:extLst>
          </p:cNvPr>
          <p:cNvSpPr/>
          <p:nvPr/>
        </p:nvSpPr>
        <p:spPr>
          <a:xfrm>
            <a:off x="4170333" y="1910317"/>
            <a:ext cx="1735541" cy="346249"/>
          </a:xfrm>
          <a:custGeom>
            <a:avLst/>
            <a:gdLst>
              <a:gd name="csX0" fmla="*/ 0 w 1735541"/>
              <a:gd name="csY0" fmla="*/ 0 h 346249"/>
              <a:gd name="csX1" fmla="*/ 1735541 w 1735541"/>
              <a:gd name="csY1" fmla="*/ 0 h 346249"/>
              <a:gd name="csX2" fmla="*/ 1735541 w 1735541"/>
              <a:gd name="csY2" fmla="*/ 346249 h 346249"/>
              <a:gd name="csX3" fmla="*/ 0 w 1735541"/>
              <a:gd name="csY3" fmla="*/ 346249 h 346249"/>
              <a:gd name="csX4" fmla="*/ 0 w 1735541"/>
              <a:gd name="csY4" fmla="*/ 0 h 34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5541" h="346249" fill="none" extrusionOk="0">
                <a:moveTo>
                  <a:pt x="0" y="0"/>
                </a:moveTo>
                <a:cubicBezTo>
                  <a:pt x="768857" y="110683"/>
                  <a:pt x="955635" y="62640"/>
                  <a:pt x="1735541" y="0"/>
                </a:cubicBezTo>
                <a:cubicBezTo>
                  <a:pt x="1720356" y="164193"/>
                  <a:pt x="1714477" y="293019"/>
                  <a:pt x="1735541" y="346249"/>
                </a:cubicBezTo>
                <a:cubicBezTo>
                  <a:pt x="1126299" y="313455"/>
                  <a:pt x="364653" y="497859"/>
                  <a:pt x="0" y="346249"/>
                </a:cubicBezTo>
                <a:cubicBezTo>
                  <a:pt x="-9806" y="204761"/>
                  <a:pt x="13501" y="146378"/>
                  <a:pt x="0" y="0"/>
                </a:cubicBezTo>
                <a:close/>
              </a:path>
              <a:path w="1735541" h="346249" stroke="0" extrusionOk="0">
                <a:moveTo>
                  <a:pt x="0" y="0"/>
                </a:moveTo>
                <a:cubicBezTo>
                  <a:pt x="363782" y="125630"/>
                  <a:pt x="1250190" y="-95989"/>
                  <a:pt x="1735541" y="0"/>
                </a:cubicBezTo>
                <a:cubicBezTo>
                  <a:pt x="1718333" y="88266"/>
                  <a:pt x="1716921" y="256163"/>
                  <a:pt x="1735541" y="346249"/>
                </a:cubicBezTo>
                <a:cubicBezTo>
                  <a:pt x="1284568" y="347679"/>
                  <a:pt x="685338" y="398581"/>
                  <a:pt x="0" y="346249"/>
                </a:cubicBezTo>
                <a:cubicBezTo>
                  <a:pt x="-29868" y="191301"/>
                  <a:pt x="262" y="82956"/>
                  <a:pt x="0" y="0"/>
                </a:cubicBezTo>
                <a:close/>
              </a:path>
            </a:pathLst>
          </a:custGeom>
          <a:solidFill>
            <a:srgbClr val="92D050"/>
          </a:solidFill>
          <a:ln w="28575">
            <a:solidFill>
              <a:srgbClr val="074F77"/>
            </a:solidFill>
            <a:extLst>
              <a:ext uri="{C807C97D-BFC1-408E-A445-0C87EB9F89A2}">
                <ask:lineSketchStyleProps xmlns:ask="http://schemas.microsoft.com/office/drawing/2018/sketchyshapes" sd="149920681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Applying skills</a:t>
            </a:r>
          </a:p>
        </p:txBody>
      </p:sp>
      <p:pic>
        <p:nvPicPr>
          <p:cNvPr id="21" name="Picture 20" descr="A green and white rectangular sign with a number&#10;&#10;Description automatically generated">
            <a:extLst>
              <a:ext uri="{FF2B5EF4-FFF2-40B4-BE49-F238E27FC236}">
                <a16:creationId xmlns:a16="http://schemas.microsoft.com/office/drawing/2014/main" id="{C9E592B8-6A39-FB67-F0E9-978939E3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831" y="1824967"/>
            <a:ext cx="467984" cy="685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143BDA-1847-3EB6-8A99-020D3FE1F53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56" t="19262" r="72041" b="2116"/>
          <a:stretch/>
        </p:blipFill>
        <p:spPr>
          <a:xfrm>
            <a:off x="3457373" y="2959675"/>
            <a:ext cx="257442" cy="1367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056899-FEB0-DB80-D944-205675E1FCB5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F6098-460C-1EAE-195A-C17C527E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517" y="1441038"/>
            <a:ext cx="7049484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3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A13E-EF40-51BD-0A7A-47D05347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642C-271B-7F8A-D8DF-A917DF83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723F12-3095-1B6F-0107-A0416222950B}"/>
              </a:ext>
            </a:extLst>
          </p:cNvPr>
          <p:cNvSpPr/>
          <p:nvPr/>
        </p:nvSpPr>
        <p:spPr>
          <a:xfrm>
            <a:off x="4170333" y="1910317"/>
            <a:ext cx="1735541" cy="346249"/>
          </a:xfrm>
          <a:custGeom>
            <a:avLst/>
            <a:gdLst>
              <a:gd name="csX0" fmla="*/ 0 w 1735541"/>
              <a:gd name="csY0" fmla="*/ 0 h 346249"/>
              <a:gd name="csX1" fmla="*/ 1735541 w 1735541"/>
              <a:gd name="csY1" fmla="*/ 0 h 346249"/>
              <a:gd name="csX2" fmla="*/ 1735541 w 1735541"/>
              <a:gd name="csY2" fmla="*/ 346249 h 346249"/>
              <a:gd name="csX3" fmla="*/ 0 w 1735541"/>
              <a:gd name="csY3" fmla="*/ 346249 h 346249"/>
              <a:gd name="csX4" fmla="*/ 0 w 1735541"/>
              <a:gd name="csY4" fmla="*/ 0 h 346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5541" h="346249" fill="none" extrusionOk="0">
                <a:moveTo>
                  <a:pt x="0" y="0"/>
                </a:moveTo>
                <a:cubicBezTo>
                  <a:pt x="768857" y="110683"/>
                  <a:pt x="955635" y="62640"/>
                  <a:pt x="1735541" y="0"/>
                </a:cubicBezTo>
                <a:cubicBezTo>
                  <a:pt x="1720356" y="164193"/>
                  <a:pt x="1714477" y="293019"/>
                  <a:pt x="1735541" y="346249"/>
                </a:cubicBezTo>
                <a:cubicBezTo>
                  <a:pt x="1126299" y="313455"/>
                  <a:pt x="364653" y="497859"/>
                  <a:pt x="0" y="346249"/>
                </a:cubicBezTo>
                <a:cubicBezTo>
                  <a:pt x="-9806" y="204761"/>
                  <a:pt x="13501" y="146378"/>
                  <a:pt x="0" y="0"/>
                </a:cubicBezTo>
                <a:close/>
              </a:path>
              <a:path w="1735541" h="346249" stroke="0" extrusionOk="0">
                <a:moveTo>
                  <a:pt x="0" y="0"/>
                </a:moveTo>
                <a:cubicBezTo>
                  <a:pt x="363782" y="125630"/>
                  <a:pt x="1250190" y="-95989"/>
                  <a:pt x="1735541" y="0"/>
                </a:cubicBezTo>
                <a:cubicBezTo>
                  <a:pt x="1718333" y="88266"/>
                  <a:pt x="1716921" y="256163"/>
                  <a:pt x="1735541" y="346249"/>
                </a:cubicBezTo>
                <a:cubicBezTo>
                  <a:pt x="1284568" y="347679"/>
                  <a:pt x="685338" y="398581"/>
                  <a:pt x="0" y="346249"/>
                </a:cubicBezTo>
                <a:cubicBezTo>
                  <a:pt x="-29868" y="191301"/>
                  <a:pt x="262" y="82956"/>
                  <a:pt x="0" y="0"/>
                </a:cubicBezTo>
                <a:close/>
              </a:path>
            </a:pathLst>
          </a:custGeom>
          <a:solidFill>
            <a:srgbClr val="92D050"/>
          </a:solidFill>
          <a:ln w="28575">
            <a:solidFill>
              <a:srgbClr val="074F77"/>
            </a:solidFill>
            <a:extLst>
              <a:ext uri="{C807C97D-BFC1-408E-A445-0C87EB9F89A2}">
                <ask:lineSketchStyleProps xmlns:ask="http://schemas.microsoft.com/office/drawing/2018/sketchyshapes" sd="149920681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Applying skills</a:t>
            </a:r>
          </a:p>
        </p:txBody>
      </p:sp>
      <p:pic>
        <p:nvPicPr>
          <p:cNvPr id="21" name="Picture 20" descr="A green and white rectangular sign with a number&#10;&#10;Description automatically generated">
            <a:extLst>
              <a:ext uri="{FF2B5EF4-FFF2-40B4-BE49-F238E27FC236}">
                <a16:creationId xmlns:a16="http://schemas.microsoft.com/office/drawing/2014/main" id="{E0812597-D6B1-B0FC-8F32-957B1890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831" y="1824967"/>
            <a:ext cx="467984" cy="685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9E3C34-C247-9392-0BF9-6E61F8747CB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56" t="19262" r="72041" b="2116"/>
          <a:stretch/>
        </p:blipFill>
        <p:spPr>
          <a:xfrm>
            <a:off x="3457373" y="2959675"/>
            <a:ext cx="257442" cy="1367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3A9C34-C66A-9CAB-3ACB-3AB750A8653B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AD7A0-4ED8-7E88-FA10-B6BA18095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79" y="1361184"/>
            <a:ext cx="6688183" cy="503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7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362E-6744-F34A-EABC-C463AAC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0D64-A288-0485-E9E4-A65570D0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015" y="365125"/>
            <a:ext cx="6575259" cy="1335589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Mini Plenary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400011A-CA78-7F09-AF0B-7F03DA64FDAF}"/>
              </a:ext>
            </a:extLst>
          </p:cNvPr>
          <p:cNvGraphicFramePr>
            <a:graphicFrameLocks/>
          </p:cNvGraphicFramePr>
          <p:nvPr/>
        </p:nvGraphicFramePr>
        <p:xfrm>
          <a:off x="2525486" y="1952218"/>
          <a:ext cx="8405027" cy="395872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13420">
                  <a:extLst>
                    <a:ext uri="{9D8B030D-6E8A-4147-A177-3AD203B41FA5}">
                      <a16:colId xmlns:a16="http://schemas.microsoft.com/office/drawing/2014/main" val="2227876048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3164400546"/>
                    </a:ext>
                  </a:extLst>
                </a:gridCol>
                <a:gridCol w="1042875">
                  <a:extLst>
                    <a:ext uri="{9D8B030D-6E8A-4147-A177-3AD203B41FA5}">
                      <a16:colId xmlns:a16="http://schemas.microsoft.com/office/drawing/2014/main" val="1314906275"/>
                    </a:ext>
                  </a:extLst>
                </a:gridCol>
                <a:gridCol w="1195255">
                  <a:extLst>
                    <a:ext uri="{9D8B030D-6E8A-4147-A177-3AD203B41FA5}">
                      <a16:colId xmlns:a16="http://schemas.microsoft.com/office/drawing/2014/main" val="4125737151"/>
                    </a:ext>
                  </a:extLst>
                </a:gridCol>
              </a:tblGrid>
              <a:tr h="646567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The</a:t>
                      </a:r>
                      <a:r>
                        <a:rPr lang="en-US" sz="2400" baseline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Success Criteria</a:t>
                      </a:r>
                      <a:endPara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3.</a:t>
                      </a:r>
                      <a:r>
                        <a:rPr lang="en-US" sz="1400" kern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100" kern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  <a:r>
                        <a:rPr lang="en-US" sz="1100" kern="1200" baseline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got it</a:t>
                      </a:r>
                      <a:endParaRPr lang="en-US" sz="11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2.</a:t>
                      </a:r>
                      <a:r>
                        <a:rPr lang="en-US" sz="1100" kern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I need to work on it.</a:t>
                      </a:r>
                      <a:endParaRPr lang="en-US" sz="11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</a:t>
                      </a:r>
                      <a:r>
                        <a:rPr lang="en-US" sz="1100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100" kern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Didn’t get it and need help.</a:t>
                      </a:r>
                      <a:endParaRPr lang="en-US" sz="11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7951"/>
                  </a:ext>
                </a:extLst>
              </a:tr>
              <a:tr h="87599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Can calculate division of whole number by a fraction.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682976"/>
                  </a:ext>
                </a:extLst>
              </a:tr>
              <a:tr h="87599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Calculates unit rates with fractions correctly.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09972"/>
                  </a:ext>
                </a:extLst>
              </a:tr>
              <a:tr h="156017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  <a:defRPr/>
                      </a:pPr>
                      <a:r>
                        <a:rPr lang="en-US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Applies unit rates confidently to UAE-context scenarios and clearly explains reasoning using fractions and proportional thinking.</a:t>
                      </a:r>
                      <a:endParaRPr lang="en-US" sz="1800" b="0" i="0" u="none" strike="noStrike" cap="none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5374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530B12-A1D0-FAE3-A7BE-D44208D08E62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248965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7A36-EC71-3843-8C5D-02E84747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9FC1-A763-4509-977E-6F59AA79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  <a:b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n-US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B9EDB1-42F7-3303-08C8-AA6B265404DB}"/>
              </a:ext>
            </a:extLst>
          </p:cNvPr>
          <p:cNvSpPr/>
          <p:nvPr/>
        </p:nvSpPr>
        <p:spPr>
          <a:xfrm>
            <a:off x="2573902" y="1887707"/>
            <a:ext cx="8812555" cy="434034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>
              <a:latin typeface="Century Gothic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B26C68C-3015-792F-6D51-16997149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445" y="2116841"/>
            <a:ext cx="6090087" cy="40600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0A60C4-F41E-DF97-CA79-4D5BAEFC9855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263025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2B9532-C9D5-FCFB-406F-753CBD647D53}"/>
              </a:ext>
            </a:extLst>
          </p:cNvPr>
          <p:cNvSpPr/>
          <p:nvPr/>
        </p:nvSpPr>
        <p:spPr>
          <a:xfrm>
            <a:off x="2544638" y="2282351"/>
            <a:ext cx="747641" cy="438582"/>
          </a:xfrm>
          <a:custGeom>
            <a:avLst/>
            <a:gdLst>
              <a:gd name="csX0" fmla="*/ 0 w 747641"/>
              <a:gd name="csY0" fmla="*/ 0 h 438582"/>
              <a:gd name="csX1" fmla="*/ 373821 w 747641"/>
              <a:gd name="csY1" fmla="*/ 0 h 438582"/>
              <a:gd name="csX2" fmla="*/ 747641 w 747641"/>
              <a:gd name="csY2" fmla="*/ 0 h 438582"/>
              <a:gd name="csX3" fmla="*/ 747641 w 747641"/>
              <a:gd name="csY3" fmla="*/ 438582 h 438582"/>
              <a:gd name="csX4" fmla="*/ 358868 w 747641"/>
              <a:gd name="csY4" fmla="*/ 438582 h 438582"/>
              <a:gd name="csX5" fmla="*/ 0 w 747641"/>
              <a:gd name="csY5" fmla="*/ 438582 h 438582"/>
              <a:gd name="csX6" fmla="*/ 0 w 747641"/>
              <a:gd name="csY6" fmla="*/ 0 h 438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47641" h="438582" fill="none" extrusionOk="0">
                <a:moveTo>
                  <a:pt x="0" y="0"/>
                </a:moveTo>
                <a:cubicBezTo>
                  <a:pt x="109747" y="3752"/>
                  <a:pt x="198198" y="-195"/>
                  <a:pt x="373821" y="0"/>
                </a:cubicBezTo>
                <a:cubicBezTo>
                  <a:pt x="549444" y="195"/>
                  <a:pt x="585457" y="-10852"/>
                  <a:pt x="747641" y="0"/>
                </a:cubicBezTo>
                <a:cubicBezTo>
                  <a:pt x="729422" y="179779"/>
                  <a:pt x="763767" y="335561"/>
                  <a:pt x="747641" y="438582"/>
                </a:cubicBezTo>
                <a:cubicBezTo>
                  <a:pt x="650897" y="432565"/>
                  <a:pt x="551131" y="430350"/>
                  <a:pt x="358868" y="438582"/>
                </a:cubicBezTo>
                <a:cubicBezTo>
                  <a:pt x="166605" y="446814"/>
                  <a:pt x="71804" y="431894"/>
                  <a:pt x="0" y="438582"/>
                </a:cubicBezTo>
                <a:cubicBezTo>
                  <a:pt x="12802" y="248502"/>
                  <a:pt x="13909" y="88327"/>
                  <a:pt x="0" y="0"/>
                </a:cubicBezTo>
                <a:close/>
              </a:path>
              <a:path w="747641" h="438582" stroke="0" extrusionOk="0">
                <a:moveTo>
                  <a:pt x="0" y="0"/>
                </a:moveTo>
                <a:cubicBezTo>
                  <a:pt x="146323" y="13516"/>
                  <a:pt x="177380" y="-1443"/>
                  <a:pt x="351391" y="0"/>
                </a:cubicBezTo>
                <a:cubicBezTo>
                  <a:pt x="525402" y="1443"/>
                  <a:pt x="552832" y="-13066"/>
                  <a:pt x="747641" y="0"/>
                </a:cubicBezTo>
                <a:cubicBezTo>
                  <a:pt x="734612" y="125519"/>
                  <a:pt x="748028" y="329987"/>
                  <a:pt x="747641" y="438582"/>
                </a:cubicBezTo>
                <a:cubicBezTo>
                  <a:pt x="642036" y="436902"/>
                  <a:pt x="470945" y="422772"/>
                  <a:pt x="366344" y="438582"/>
                </a:cubicBezTo>
                <a:cubicBezTo>
                  <a:pt x="261743" y="454392"/>
                  <a:pt x="122505" y="449970"/>
                  <a:pt x="0" y="438582"/>
                </a:cubicBezTo>
                <a:cubicBezTo>
                  <a:pt x="-5872" y="233564"/>
                  <a:pt x="11991" y="98446"/>
                  <a:pt x="0" y="0"/>
                </a:cubicBezTo>
                <a:close/>
              </a:path>
            </a:pathLst>
          </a:custGeom>
          <a:solidFill>
            <a:srgbClr val="FAD6DB"/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5299989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HOT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E31F4-DD37-1E3F-0046-D83A5E81020C}"/>
              </a:ext>
            </a:extLst>
          </p:cNvPr>
          <p:cNvSpPr/>
          <p:nvPr/>
        </p:nvSpPr>
        <p:spPr>
          <a:xfrm>
            <a:off x="4925986" y="698101"/>
            <a:ext cx="2650471" cy="561692"/>
          </a:xfrm>
          <a:prstGeom prst="rect">
            <a:avLst/>
          </a:prstGeom>
          <a:noFill/>
          <a:ln w="19050">
            <a:noFill/>
            <a:extLst>
              <a:ext uri="{C807C97D-BFC1-408E-A445-0C87EB9F89A2}">
                <ask:lineSketchStyleProps xmlns:ask="http://schemas.microsoft.com/office/drawing/2018/sketchyshapes" sd="998220783">
                  <a:custGeom>
                    <a:avLst/>
                    <a:gdLst>
                      <a:gd name="connsiteX0" fmla="*/ 0 w 1378532"/>
                      <a:gd name="connsiteY0" fmla="*/ 0 h 438582"/>
                      <a:gd name="connsiteX1" fmla="*/ 661695 w 1378532"/>
                      <a:gd name="connsiteY1" fmla="*/ 0 h 438582"/>
                      <a:gd name="connsiteX2" fmla="*/ 1378532 w 1378532"/>
                      <a:gd name="connsiteY2" fmla="*/ 0 h 438582"/>
                      <a:gd name="connsiteX3" fmla="*/ 1378532 w 1378532"/>
                      <a:gd name="connsiteY3" fmla="*/ 438582 h 438582"/>
                      <a:gd name="connsiteX4" fmla="*/ 689266 w 1378532"/>
                      <a:gd name="connsiteY4" fmla="*/ 438582 h 438582"/>
                      <a:gd name="connsiteX5" fmla="*/ 0 w 1378532"/>
                      <a:gd name="connsiteY5" fmla="*/ 438582 h 438582"/>
                      <a:gd name="connsiteX6" fmla="*/ 0 w 1378532"/>
                      <a:gd name="connsiteY6" fmla="*/ 0 h 4385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78532" h="438582" fill="none" extrusionOk="0">
                        <a:moveTo>
                          <a:pt x="0" y="0"/>
                        </a:moveTo>
                        <a:cubicBezTo>
                          <a:pt x="143001" y="-3010"/>
                          <a:pt x="345785" y="-3645"/>
                          <a:pt x="661695" y="0"/>
                        </a:cubicBezTo>
                        <a:cubicBezTo>
                          <a:pt x="977605" y="3645"/>
                          <a:pt x="1174936" y="15215"/>
                          <a:pt x="1378532" y="0"/>
                        </a:cubicBezTo>
                        <a:cubicBezTo>
                          <a:pt x="1384301" y="208166"/>
                          <a:pt x="1373768" y="239455"/>
                          <a:pt x="1378532" y="438582"/>
                        </a:cubicBezTo>
                        <a:cubicBezTo>
                          <a:pt x="1174171" y="451965"/>
                          <a:pt x="829301" y="467672"/>
                          <a:pt x="689266" y="438582"/>
                        </a:cubicBezTo>
                        <a:cubicBezTo>
                          <a:pt x="549231" y="409492"/>
                          <a:pt x="253579" y="450464"/>
                          <a:pt x="0" y="438582"/>
                        </a:cubicBezTo>
                        <a:cubicBezTo>
                          <a:pt x="-1143" y="222653"/>
                          <a:pt x="11346" y="170593"/>
                          <a:pt x="0" y="0"/>
                        </a:cubicBezTo>
                        <a:close/>
                      </a:path>
                      <a:path w="1378532" h="438582" stroke="0" extrusionOk="0">
                        <a:moveTo>
                          <a:pt x="0" y="0"/>
                        </a:moveTo>
                        <a:cubicBezTo>
                          <a:pt x="142808" y="-2762"/>
                          <a:pt x="447546" y="-13179"/>
                          <a:pt x="689266" y="0"/>
                        </a:cubicBezTo>
                        <a:cubicBezTo>
                          <a:pt x="930986" y="13179"/>
                          <a:pt x="1075903" y="-2206"/>
                          <a:pt x="1378532" y="0"/>
                        </a:cubicBezTo>
                        <a:cubicBezTo>
                          <a:pt x="1361457" y="137904"/>
                          <a:pt x="1375996" y="326102"/>
                          <a:pt x="1378532" y="438582"/>
                        </a:cubicBezTo>
                        <a:cubicBezTo>
                          <a:pt x="1242161" y="410583"/>
                          <a:pt x="956442" y="452855"/>
                          <a:pt x="730622" y="438582"/>
                        </a:cubicBezTo>
                        <a:cubicBezTo>
                          <a:pt x="504802" y="424310"/>
                          <a:pt x="179059" y="451009"/>
                          <a:pt x="0" y="438582"/>
                        </a:cubicBezTo>
                        <a:cubicBezTo>
                          <a:pt x="4206" y="242468"/>
                          <a:pt x="-14892" y="2021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Elaborate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1803E-97A8-DDFC-52E8-7742B6F33568}"/>
              </a:ext>
            </a:extLst>
          </p:cNvPr>
          <p:cNvSpPr txBox="1"/>
          <p:nvPr/>
        </p:nvSpPr>
        <p:spPr>
          <a:xfrm>
            <a:off x="2662723" y="1733374"/>
            <a:ext cx="2650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Early Finishers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12FFA-F1FA-78E8-A034-DBD9F951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03" y="2282351"/>
            <a:ext cx="5982535" cy="28293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FEAFF1-809C-3E2B-D896-310D5623C1C1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392005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8C97-CD60-1B86-CF3D-14B15912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0960FF-9367-7169-65F3-75EB350FB5A6}"/>
              </a:ext>
            </a:extLst>
          </p:cNvPr>
          <p:cNvSpPr/>
          <p:nvPr/>
        </p:nvSpPr>
        <p:spPr>
          <a:xfrm>
            <a:off x="5304490" y="411795"/>
            <a:ext cx="2282420" cy="561692"/>
          </a:xfrm>
          <a:prstGeom prst="rect">
            <a:avLst/>
          </a:prstGeom>
          <a:noFill/>
          <a:ln w="19050">
            <a:noFill/>
            <a:extLst>
              <a:ext uri="{C807C97D-BFC1-408E-A445-0C87EB9F89A2}">
                <ask:lineSketchStyleProps xmlns:ask="http://schemas.microsoft.com/office/drawing/2018/sketchyshapes" sd="998220783">
                  <a:custGeom>
                    <a:avLst/>
                    <a:gdLst>
                      <a:gd name="connsiteX0" fmla="*/ 0 w 1378532"/>
                      <a:gd name="connsiteY0" fmla="*/ 0 h 438582"/>
                      <a:gd name="connsiteX1" fmla="*/ 661695 w 1378532"/>
                      <a:gd name="connsiteY1" fmla="*/ 0 h 438582"/>
                      <a:gd name="connsiteX2" fmla="*/ 1378532 w 1378532"/>
                      <a:gd name="connsiteY2" fmla="*/ 0 h 438582"/>
                      <a:gd name="connsiteX3" fmla="*/ 1378532 w 1378532"/>
                      <a:gd name="connsiteY3" fmla="*/ 438582 h 438582"/>
                      <a:gd name="connsiteX4" fmla="*/ 689266 w 1378532"/>
                      <a:gd name="connsiteY4" fmla="*/ 438582 h 438582"/>
                      <a:gd name="connsiteX5" fmla="*/ 0 w 1378532"/>
                      <a:gd name="connsiteY5" fmla="*/ 438582 h 438582"/>
                      <a:gd name="connsiteX6" fmla="*/ 0 w 1378532"/>
                      <a:gd name="connsiteY6" fmla="*/ 0 h 4385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78532" h="438582" fill="none" extrusionOk="0">
                        <a:moveTo>
                          <a:pt x="0" y="0"/>
                        </a:moveTo>
                        <a:cubicBezTo>
                          <a:pt x="143001" y="-3010"/>
                          <a:pt x="345785" y="-3645"/>
                          <a:pt x="661695" y="0"/>
                        </a:cubicBezTo>
                        <a:cubicBezTo>
                          <a:pt x="977605" y="3645"/>
                          <a:pt x="1174936" y="15215"/>
                          <a:pt x="1378532" y="0"/>
                        </a:cubicBezTo>
                        <a:cubicBezTo>
                          <a:pt x="1384301" y="208166"/>
                          <a:pt x="1373768" y="239455"/>
                          <a:pt x="1378532" y="438582"/>
                        </a:cubicBezTo>
                        <a:cubicBezTo>
                          <a:pt x="1174171" y="451965"/>
                          <a:pt x="829301" y="467672"/>
                          <a:pt x="689266" y="438582"/>
                        </a:cubicBezTo>
                        <a:cubicBezTo>
                          <a:pt x="549231" y="409492"/>
                          <a:pt x="253579" y="450464"/>
                          <a:pt x="0" y="438582"/>
                        </a:cubicBezTo>
                        <a:cubicBezTo>
                          <a:pt x="-1143" y="222653"/>
                          <a:pt x="11346" y="170593"/>
                          <a:pt x="0" y="0"/>
                        </a:cubicBezTo>
                        <a:close/>
                      </a:path>
                      <a:path w="1378532" h="438582" stroke="0" extrusionOk="0">
                        <a:moveTo>
                          <a:pt x="0" y="0"/>
                        </a:moveTo>
                        <a:cubicBezTo>
                          <a:pt x="142808" y="-2762"/>
                          <a:pt x="447546" y="-13179"/>
                          <a:pt x="689266" y="0"/>
                        </a:cubicBezTo>
                        <a:cubicBezTo>
                          <a:pt x="930986" y="13179"/>
                          <a:pt x="1075903" y="-2206"/>
                          <a:pt x="1378532" y="0"/>
                        </a:cubicBezTo>
                        <a:cubicBezTo>
                          <a:pt x="1361457" y="137904"/>
                          <a:pt x="1375996" y="326102"/>
                          <a:pt x="1378532" y="438582"/>
                        </a:cubicBezTo>
                        <a:cubicBezTo>
                          <a:pt x="1242161" y="410583"/>
                          <a:pt x="956442" y="452855"/>
                          <a:pt x="730622" y="438582"/>
                        </a:cubicBezTo>
                        <a:cubicBezTo>
                          <a:pt x="504802" y="424310"/>
                          <a:pt x="179059" y="451009"/>
                          <a:pt x="0" y="438582"/>
                        </a:cubicBezTo>
                        <a:cubicBezTo>
                          <a:pt x="4206" y="242468"/>
                          <a:pt x="-14892" y="2021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Evaluate</a:t>
            </a:r>
          </a:p>
        </p:txBody>
      </p:sp>
      <p:pic>
        <p:nvPicPr>
          <p:cNvPr id="15" name="Picture 2" descr="Count-down Timers |">
            <a:extLst>
              <a:ext uri="{FF2B5EF4-FFF2-40B4-BE49-F238E27FC236}">
                <a16:creationId xmlns:a16="http://schemas.microsoft.com/office/drawing/2014/main" id="{A0536018-9BA0-7551-FC0D-6E0F19E36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0" t="12624" r="15238" b="23821"/>
          <a:stretch/>
        </p:blipFill>
        <p:spPr bwMode="auto">
          <a:xfrm>
            <a:off x="5996703" y="6296511"/>
            <a:ext cx="1219649" cy="42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B585F9F-7817-C05B-3648-C9419B45F4FE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C7753-CCF4-DC7A-8F10-76A76D014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14" y="440870"/>
            <a:ext cx="4278086" cy="6417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16C212-265D-4C92-0144-C7288D48EA56}"/>
              </a:ext>
            </a:extLst>
          </p:cNvPr>
          <p:cNvSpPr txBox="1"/>
          <p:nvPr/>
        </p:nvSpPr>
        <p:spPr>
          <a:xfrm>
            <a:off x="2928257" y="1404257"/>
            <a:ext cx="3701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F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O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R</a:t>
            </a:r>
          </a:p>
          <a:p>
            <a:endParaRPr lang="en-US" dirty="0">
              <a:solidFill>
                <a:srgbClr val="FF0000"/>
              </a:solidFill>
              <a:latin typeface="Amasis MT Pro Black" panose="02040A040500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E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AR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L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Y</a:t>
            </a:r>
          </a:p>
          <a:p>
            <a:endParaRPr lang="en-US" dirty="0">
              <a:solidFill>
                <a:srgbClr val="FF0000"/>
              </a:solidFill>
              <a:latin typeface="Amasis MT Pro Black" panose="02040A040500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F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I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N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I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S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H</a:t>
            </a:r>
          </a:p>
          <a:p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ERS</a:t>
            </a:r>
          </a:p>
        </p:txBody>
      </p:sp>
    </p:spTree>
    <p:extLst>
      <p:ext uri="{BB962C8B-B14F-4D97-AF65-F5344CB8AC3E}">
        <p14:creationId xmlns:p14="http://schemas.microsoft.com/office/powerpoint/2010/main" val="3579560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786C-F22C-3BAB-2FA1-35D11B5C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een sign with white text&#10;&#10;Description automatically generated">
            <a:extLst>
              <a:ext uri="{FF2B5EF4-FFF2-40B4-BE49-F238E27FC236}">
                <a16:creationId xmlns:a16="http://schemas.microsoft.com/office/drawing/2014/main" id="{BAA676FA-77EC-645D-61B7-D6059B91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073" y="1796762"/>
            <a:ext cx="3090688" cy="15693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7CF3EB-B703-CD98-2BAC-5654EE894D48}"/>
              </a:ext>
            </a:extLst>
          </p:cNvPr>
          <p:cNvSpPr/>
          <p:nvPr/>
        </p:nvSpPr>
        <p:spPr>
          <a:xfrm>
            <a:off x="5304490" y="411795"/>
            <a:ext cx="2282420" cy="561692"/>
          </a:xfrm>
          <a:prstGeom prst="rect">
            <a:avLst/>
          </a:prstGeom>
          <a:noFill/>
          <a:ln w="19050">
            <a:noFill/>
            <a:extLst>
              <a:ext uri="{C807C97D-BFC1-408E-A445-0C87EB9F89A2}">
                <ask:lineSketchStyleProps xmlns:ask="http://schemas.microsoft.com/office/drawing/2018/sketchyshapes" sd="998220783">
                  <a:custGeom>
                    <a:avLst/>
                    <a:gdLst>
                      <a:gd name="connsiteX0" fmla="*/ 0 w 1378532"/>
                      <a:gd name="connsiteY0" fmla="*/ 0 h 438582"/>
                      <a:gd name="connsiteX1" fmla="*/ 661695 w 1378532"/>
                      <a:gd name="connsiteY1" fmla="*/ 0 h 438582"/>
                      <a:gd name="connsiteX2" fmla="*/ 1378532 w 1378532"/>
                      <a:gd name="connsiteY2" fmla="*/ 0 h 438582"/>
                      <a:gd name="connsiteX3" fmla="*/ 1378532 w 1378532"/>
                      <a:gd name="connsiteY3" fmla="*/ 438582 h 438582"/>
                      <a:gd name="connsiteX4" fmla="*/ 689266 w 1378532"/>
                      <a:gd name="connsiteY4" fmla="*/ 438582 h 438582"/>
                      <a:gd name="connsiteX5" fmla="*/ 0 w 1378532"/>
                      <a:gd name="connsiteY5" fmla="*/ 438582 h 438582"/>
                      <a:gd name="connsiteX6" fmla="*/ 0 w 1378532"/>
                      <a:gd name="connsiteY6" fmla="*/ 0 h 4385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78532" h="438582" fill="none" extrusionOk="0">
                        <a:moveTo>
                          <a:pt x="0" y="0"/>
                        </a:moveTo>
                        <a:cubicBezTo>
                          <a:pt x="143001" y="-3010"/>
                          <a:pt x="345785" y="-3645"/>
                          <a:pt x="661695" y="0"/>
                        </a:cubicBezTo>
                        <a:cubicBezTo>
                          <a:pt x="977605" y="3645"/>
                          <a:pt x="1174936" y="15215"/>
                          <a:pt x="1378532" y="0"/>
                        </a:cubicBezTo>
                        <a:cubicBezTo>
                          <a:pt x="1384301" y="208166"/>
                          <a:pt x="1373768" y="239455"/>
                          <a:pt x="1378532" y="438582"/>
                        </a:cubicBezTo>
                        <a:cubicBezTo>
                          <a:pt x="1174171" y="451965"/>
                          <a:pt x="829301" y="467672"/>
                          <a:pt x="689266" y="438582"/>
                        </a:cubicBezTo>
                        <a:cubicBezTo>
                          <a:pt x="549231" y="409492"/>
                          <a:pt x="253579" y="450464"/>
                          <a:pt x="0" y="438582"/>
                        </a:cubicBezTo>
                        <a:cubicBezTo>
                          <a:pt x="-1143" y="222653"/>
                          <a:pt x="11346" y="170593"/>
                          <a:pt x="0" y="0"/>
                        </a:cubicBezTo>
                        <a:close/>
                      </a:path>
                      <a:path w="1378532" h="438582" stroke="0" extrusionOk="0">
                        <a:moveTo>
                          <a:pt x="0" y="0"/>
                        </a:moveTo>
                        <a:cubicBezTo>
                          <a:pt x="142808" y="-2762"/>
                          <a:pt x="447546" y="-13179"/>
                          <a:pt x="689266" y="0"/>
                        </a:cubicBezTo>
                        <a:cubicBezTo>
                          <a:pt x="930986" y="13179"/>
                          <a:pt x="1075903" y="-2206"/>
                          <a:pt x="1378532" y="0"/>
                        </a:cubicBezTo>
                        <a:cubicBezTo>
                          <a:pt x="1361457" y="137904"/>
                          <a:pt x="1375996" y="326102"/>
                          <a:pt x="1378532" y="438582"/>
                        </a:cubicBezTo>
                        <a:cubicBezTo>
                          <a:pt x="1242161" y="410583"/>
                          <a:pt x="956442" y="452855"/>
                          <a:pt x="730622" y="438582"/>
                        </a:cubicBezTo>
                        <a:cubicBezTo>
                          <a:pt x="504802" y="424310"/>
                          <a:pt x="179059" y="451009"/>
                          <a:pt x="0" y="438582"/>
                        </a:cubicBezTo>
                        <a:cubicBezTo>
                          <a:pt x="4206" y="242468"/>
                          <a:pt x="-14892" y="2021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Evaluate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10ABFA-2F51-34CA-AFBA-5F2680C4A645}"/>
              </a:ext>
            </a:extLst>
          </p:cNvPr>
          <p:cNvSpPr/>
          <p:nvPr/>
        </p:nvSpPr>
        <p:spPr>
          <a:xfrm>
            <a:off x="3116563" y="1145590"/>
            <a:ext cx="2282420" cy="438582"/>
          </a:xfrm>
          <a:prstGeom prst="rect">
            <a:avLst/>
          </a:prstGeom>
          <a:noFill/>
          <a:ln w="38100">
            <a:noFill/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Post-assessment</a:t>
            </a:r>
            <a:endParaRPr lang="en-US" sz="2000" b="1" dirty="0">
              <a:solidFill>
                <a:schemeClr val="accent3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4AEFA-78DB-F0D3-823B-723637CA41B1}"/>
              </a:ext>
            </a:extLst>
          </p:cNvPr>
          <p:cNvSpPr txBox="1"/>
          <p:nvPr/>
        </p:nvSpPr>
        <p:spPr>
          <a:xfrm>
            <a:off x="7800175" y="3562632"/>
            <a:ext cx="3208484" cy="1634490"/>
          </a:xfrm>
          <a:prstGeom prst="roundRect">
            <a:avLst/>
          </a:prstGeom>
          <a:noFill/>
          <a:ln w="57150">
            <a:solidFill>
              <a:srgbClr val="60009A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Amasis MT Pro Black" panose="02040A04050005020304" pitchFamily="18" charset="0"/>
              </a:rPr>
              <a:t>Teacher Link:</a:t>
            </a:r>
          </a:p>
          <a:p>
            <a:endParaRPr lang="en-US" sz="1800" dirty="0"/>
          </a:p>
          <a:p>
            <a:r>
              <a:rPr lang="en-US" dirty="0">
                <a:hlinkClick r:id="rId3"/>
              </a:rPr>
              <a:t>https://wayground.com/admin/activity/classic/690062f2c1e6be244d219440</a:t>
            </a:r>
            <a:r>
              <a:rPr lang="en-US" dirty="0"/>
              <a:t> </a:t>
            </a:r>
            <a:endParaRPr lang="en-US" sz="1800" dirty="0"/>
          </a:p>
        </p:txBody>
      </p:sp>
      <p:pic>
        <p:nvPicPr>
          <p:cNvPr id="15" name="Picture 2" descr="Count-down Timers |">
            <a:extLst>
              <a:ext uri="{FF2B5EF4-FFF2-40B4-BE49-F238E27FC236}">
                <a16:creationId xmlns:a16="http://schemas.microsoft.com/office/drawing/2014/main" id="{496E5F29-80CC-E99E-B6B3-51B5974A86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0" t="12624" r="15238" b="23821"/>
          <a:stretch/>
        </p:blipFill>
        <p:spPr bwMode="auto">
          <a:xfrm>
            <a:off x="5996703" y="6296511"/>
            <a:ext cx="1219649" cy="42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1DC443-2A39-6A8D-F047-8AA5224EF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563" y="2071364"/>
            <a:ext cx="3599923" cy="35862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E687EF-D9DE-D061-1E0B-168650E9994B}"/>
              </a:ext>
            </a:extLst>
          </p:cNvPr>
          <p:cNvSpPr/>
          <p:nvPr/>
        </p:nvSpPr>
        <p:spPr>
          <a:xfrm>
            <a:off x="185057" y="1836510"/>
            <a:ext cx="1937657" cy="4561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LO: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1200" dirty="0"/>
              <a:t>Calculate unit rates involving fraction and apply it to real-life situations.</a:t>
            </a:r>
          </a:p>
          <a:p>
            <a:r>
              <a:rPr lang="en-US" sz="1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SC: 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/>
              <a:t>Identify the numerator and denominator in a ratio with a fraction correctly.</a:t>
            </a:r>
          </a:p>
          <a:p>
            <a:r>
              <a:rPr lang="en-US" sz="1200" dirty="0"/>
              <a:t>Calculate unit rates accurately.</a:t>
            </a:r>
          </a:p>
          <a:p>
            <a:r>
              <a:rPr lang="en-US" sz="1200" dirty="0"/>
              <a:t>Apply unit rates to UAE-context problems and explain reasoning clearly using fractions.</a:t>
            </a:r>
          </a:p>
          <a:p>
            <a:r>
              <a:rPr lang="en-US" sz="1200" b="1" dirty="0"/>
              <a:t>ATL Skill:</a:t>
            </a:r>
          </a:p>
          <a:p>
            <a:r>
              <a:rPr lang="en-US" sz="1200" dirty="0"/>
              <a:t>Communication</a:t>
            </a:r>
          </a:p>
          <a:p>
            <a:r>
              <a:rPr lang="en-US" sz="1200" b="1" dirty="0"/>
              <a:t>IB Learner Profile:</a:t>
            </a:r>
          </a:p>
          <a:p>
            <a:r>
              <a:rPr lang="en-US" sz="1200" dirty="0"/>
              <a:t>Thinker, Communicator</a:t>
            </a:r>
          </a:p>
          <a:p>
            <a:endParaRPr lang="en-US" sz="1200" dirty="0"/>
          </a:p>
          <a:p>
            <a:r>
              <a:rPr lang="en-US" sz="1200" b="1" dirty="0"/>
              <a:t>UAE Links: </a:t>
            </a:r>
          </a:p>
          <a:p>
            <a:r>
              <a:rPr lang="en-US" sz="1200" dirty="0"/>
              <a:t>Relate unit rates to real-life situations like calculating the quantities used in constructions.</a:t>
            </a:r>
          </a:p>
        </p:txBody>
      </p:sp>
    </p:spTree>
    <p:extLst>
      <p:ext uri="{BB962C8B-B14F-4D97-AF65-F5344CB8AC3E}">
        <p14:creationId xmlns:p14="http://schemas.microsoft.com/office/powerpoint/2010/main" val="289671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1337</Words>
  <Application>Microsoft Office PowerPoint</Application>
  <PresentationFormat>Widescreen</PresentationFormat>
  <Paragraphs>267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Amasis MT Pro Black</vt:lpstr>
      <vt:lpstr>Aptos</vt:lpstr>
      <vt:lpstr>Aptos Display</vt:lpstr>
      <vt:lpstr>Arial</vt:lpstr>
      <vt:lpstr>Cambria Math</vt:lpstr>
      <vt:lpstr>Cavolini</vt:lpstr>
      <vt:lpstr>Century Gothic</vt:lpstr>
      <vt:lpstr>Wingdings</vt:lpstr>
      <vt:lpstr>Office Theme</vt:lpstr>
      <vt:lpstr>RATIOS</vt:lpstr>
      <vt:lpstr>Bell Ringer Activity</vt:lpstr>
      <vt:lpstr>Learning Objective:  Calculate unit rates involving fraction and apply it to real-life situations. </vt:lpstr>
      <vt:lpstr>Key Vocabulary  </vt:lpstr>
      <vt:lpstr>Engage: </vt:lpstr>
      <vt:lpstr>Explain </vt:lpstr>
      <vt:lpstr>Elaborate </vt:lpstr>
      <vt:lpstr>Elaborate </vt:lpstr>
      <vt:lpstr>Elaborate </vt:lpstr>
      <vt:lpstr>Elaborate </vt:lpstr>
      <vt:lpstr>Mini Plenary : </vt:lpstr>
      <vt:lpstr>Elaborate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Sharma</dc:creator>
  <cp:lastModifiedBy>Nidhi Sharma</cp:lastModifiedBy>
  <cp:revision>1</cp:revision>
  <dcterms:created xsi:type="dcterms:W3CDTF">2026-01-03T12:53:44Z</dcterms:created>
  <dcterms:modified xsi:type="dcterms:W3CDTF">2026-01-03T13:01:57Z</dcterms:modified>
</cp:coreProperties>
</file>